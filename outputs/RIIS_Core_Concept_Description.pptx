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485c2069204f10" /><Relationship Type="http://schemas.openxmlformats.org/officeDocument/2006/relationships/extended-properties" Target="/docProps/app.xml" Id="R08467af0eb4345e5" /><Relationship Type="http://schemas.openxmlformats.org/officeDocument/2006/relationships/officeDocument" Target="/ppt/presentation.xml" Id="R5eb38848762e41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9ed1d9c7954e07"/>
  </p:sldMasterIdLst>
  <p:notesMasterIdLst>
    <p:notesMasterId xmlns:r="http://schemas.openxmlformats.org/officeDocument/2006/relationships" r:id="R6399dff3b2bd402c"/>
  </p:notesMasterIdLst>
  <p:sldIdLst>
    <p:sldId xmlns:r="http://schemas.openxmlformats.org/officeDocument/2006/relationships" id="256" r:id="R821ff37e54384204"/>
    <p:sldId xmlns:r="http://schemas.openxmlformats.org/officeDocument/2006/relationships" id="257" r:id="R9e6f29209e034a35"/>
    <p:sldId xmlns:r="http://schemas.openxmlformats.org/officeDocument/2006/relationships" id="258" r:id="Rb43c10be67bc4181"/>
    <p:sldId xmlns:r="http://schemas.openxmlformats.org/officeDocument/2006/relationships" id="259" r:id="R30a6941def9a4e87"/>
    <p:sldId xmlns:r="http://schemas.openxmlformats.org/officeDocument/2006/relationships" id="260" r:id="R02a6bb270520404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db2cf2b5ca465e" /><Relationship Type="http://schemas.openxmlformats.org/officeDocument/2006/relationships/slideMaster" Target="/ppt/slideMasters/slideMaster1.xml" Id="R969ed1d9c7954e07" /><Relationship Type="http://schemas.openxmlformats.org/officeDocument/2006/relationships/notesMaster" Target="/ppt/notesMasters/notesMaster1.xml" Id="R6399dff3b2bd402c" /><Relationship Type="http://schemas.openxmlformats.org/officeDocument/2006/relationships/presProps" Target="/ppt/presProps.xml" Id="R464f5471371b4019" /><Relationship Type="http://schemas.openxmlformats.org/officeDocument/2006/relationships/tableStyles" Target="/ppt/tableStyles.xml" Id="R41fd45f6c2b94534" /><Relationship Type="http://schemas.openxmlformats.org/officeDocument/2006/relationships/slide" Target="/ppt/slides/slide1.xml" Id="R821ff37e54384204" /><Relationship Type="http://schemas.openxmlformats.org/officeDocument/2006/relationships/slide" Target="/ppt/slides/slide2.xml" Id="R9e6f29209e034a35" /><Relationship Type="http://schemas.openxmlformats.org/officeDocument/2006/relationships/slide" Target="/ppt/slides/slide3.xml" Id="Rb43c10be67bc4181" /><Relationship Type="http://schemas.openxmlformats.org/officeDocument/2006/relationships/slide" Target="/ppt/slides/slide4.xml" Id="R30a6941def9a4e87" /><Relationship Type="http://schemas.openxmlformats.org/officeDocument/2006/relationships/slide" Target="/ppt/slides/slide5.xml" Id="R02a6bb27052040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188105194547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0c580e6e19478d" /><Relationship Type="http://schemas.openxmlformats.org/officeDocument/2006/relationships/notesMaster" Target="/ppt/notesMasters/notesMaster1.xml" Id="R931c18b5e7f341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9505bef5394f54" /><Relationship Type="http://schemas.openxmlformats.org/officeDocument/2006/relationships/notesMaster" Target="/ppt/notesMasters/notesMaster1.xml" Id="R8fa31af2640745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debc44c5384c8e" /><Relationship Type="http://schemas.openxmlformats.org/officeDocument/2006/relationships/notesMaster" Target="/ppt/notesMasters/notesMaster1.xml" Id="R06cbfbcc208046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64567c5c3b4176" /><Relationship Type="http://schemas.openxmlformats.org/officeDocument/2006/relationships/notesMaster" Target="/ppt/notesMasters/notesMaster1.xml" Id="R01d0e7d3d0014e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328c26b6844173" /><Relationship Type="http://schemas.openxmlformats.org/officeDocument/2006/relationships/notesMaster" Target="/ppt/notesMasters/notesMaster1.xml" Id="R490a345df68c42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e555ce4b946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49d68bde64f78" /><Relationship Type="http://schemas.openxmlformats.org/officeDocument/2006/relationships/slideLayout" Target="/ppt/slideLayouts/slideLayout1.xml" Id="R07c303926e9b48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c303926e9b48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935c384634bd7" /><Relationship Type="http://schemas.openxmlformats.org/officeDocument/2006/relationships/notesSlide" Target="/ppt/notesSlides/notesSlide1.xml" Id="R2bd28b7b179242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2fc89688644e2" /><Relationship Type="http://schemas.openxmlformats.org/officeDocument/2006/relationships/notesSlide" Target="/ppt/notesSlides/notesSlide2.xml" Id="Rcb9417590aee43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70de952654243" /><Relationship Type="http://schemas.openxmlformats.org/officeDocument/2006/relationships/notesSlide" Target="/ppt/notesSlides/notesSlide3.xml" Id="Rb68c9fdc26d84e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510b2b7204b2f" /><Relationship Type="http://schemas.openxmlformats.org/officeDocument/2006/relationships/notesSlide" Target="/ppt/notesSlides/notesSlide4.xml" Id="R8b21fdb0b5e240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e7d31f82e4f70" /><Relationship Type="http://schemas.openxmlformats.org/officeDocument/2006/relationships/notesSlide" Target="/ppt/notesSlides/notesSlide5.xml" Id="R09f03d1aa57046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DF6AA1-69CB-4C11-AD42-21739A6C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83841-AC95-4C42-9545-CFA6A813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  /  RAINFALL IMPACT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31EA9-C385-4B7B-A032-C8E84B0D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PROJECT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9C9E7-7E40-41D7-A456-5C3B6889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198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 FORECASTING  •  IMPACT INTELLIGENCE  •  EMERGENCY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767BE-FC94-4087-BB0D-959B4CC3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0A4C7-98DD-4783-94BC-B2448317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523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Rainfall Impact</a:t>
            </a:r>
          </a:p>
          <a:p xmlns:a="http://schemas.openxmlformats.org/drawingml/2006/main">
            <a:pPr algn="l">
              <a:defRPr sz="315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Intelligence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C7A5F-B41A-4C94-8F68-8A7C45B0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504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 futuristic decision-support platform that turns changing weather conditions into clear, local and explainable action for rainfall-related emergencies.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B02D0-C56C-491E-96D6-59776688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3048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D9FF">
              <a:alpha val="12549"/>
            </a:srgbClr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01FA2-9F5D-4343-B626-2350B2E4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WEATHER INTELLIGENCE FOR SAFER COMMUNITIES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8924E-4943-419F-9D3C-193CEE1B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43000"/>
            <a:ext cx="5000625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5AEEE-A0C3-4E50-A3A5-A2F31178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LIVE WEATHER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65E1F-4192-4607-957F-17A6DC54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Predict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D499E-3AEC-49C6-85B1-745B837C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0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8E382-6EA8-4BE2-8232-EED4A9A7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480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6B84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6B84A"/>
                </a:solidFill>
                <a:latin typeface="Aptos"/>
                <a:ea typeface="Aptos"/>
                <a:cs typeface="Aptos"/>
              </a:rPr>
              <a:t>Act early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201E9-6514-42CD-82CD-BD4C3E76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969" y="3988594"/>
            <a:ext cx="690563" cy="6905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B55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B88B0-A551-488F-A7D9-9C2C3456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643313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B55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9D619-1760-44B0-93FD-277D2FCD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406" y="3298031"/>
            <a:ext cx="2071688" cy="2071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B55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EE13B-1924-4526-98B3-A81C2AA2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D9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CC49C-D58B-40DC-B604-C196EF20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0000">
            <a:off x="8239125" y="2952750"/>
            <a:ext cx="2762250" cy="27622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26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99768-483E-452D-B488-8709AC1D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Weather  •  Maps  •  Explainable AI  •  Response tools</a:t>
            </a:r>
          </a:p>
        </p:txBody>
      </p:sp>
    </p:spTree>
    <p:extLst>
      <p:ext uri="{BB962C8B-B14F-4D97-AF65-F5344CB8AC3E}">
        <p14:creationId xmlns:p14="http://schemas.microsoft.com/office/powerpoint/2010/main" val="359804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A665BE-9EE3-4EA2-8457-A233A00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95651-340A-4AD3-9373-3F507181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  /  RAINFALL IMPACT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6FE89-9329-420D-A2BA-064CD301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GEOSPATIAL MONITORING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6595E-07C9-4ADF-AC02-665B3027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198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 FORECASTING  •  IMPACT INTELLIGENCE  •  EMERGENCY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D34D2-5341-44AC-BE12-F8AF4A2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Understand where rainfall becomes a real-world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2D99B-7A28-42B4-97F0-8DE7F694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RIIS connects large-scale weather patterns with city and ward-level conditions so support can reach the right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18C23-400C-4515-BCEA-F3B699F7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143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3C493-78A9-41E6-B1BA-5468C44A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INDIA RISK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8A33B-A316-4472-974B-9205C456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The national view helps teams compare weather conditions across districts and identify regions that may need attention.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21387-BA62-4637-B991-309C7797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A3218-141B-4019-9633-529DED58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480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Northern region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56561-4212-4713-B388-3BE70A0E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8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666A2-2ECE-480D-ABB5-4B631CDA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622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Central region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84EB2-638C-4332-B458-4F522C12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8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3BE3F-9013-45A5-8EA8-E8677A57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337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Eastern region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37016-D48A-4C3C-A6BB-F4C91A66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C52B5-6D3F-40B0-B6DE-0E332A1A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052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Western region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74276-3446-4D62-BA7E-AE7E1993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E053A-B31B-4DE5-A8E9-1288BBC1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720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Coastal region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EB237-09D4-45C2-BE2A-5E125730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Risk levels are communicated visually so patterns can be understood at a glance.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FA40F-ADD2-4213-A20B-3507FBA0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538162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7C1C7-3E5A-43E7-B007-677B3126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CITY AND WARD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28054-5DAC-4C48-98A3-36B1D0A7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The local view combines forecast rainfall, likely water accumulation and population exposure to show which neighbourhoods are more vulnerable.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C2031-E03F-4296-AEA2-F90135B3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6B">
              <a:alpha val="18824"/>
            </a:srgbClr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BD7C42-FA22-495A-BC32-01121D6F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99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Velachery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1F908-FBD8-44E8-BD40-FAE55925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6B">
              <a:alpha val="18824"/>
            </a:srgbClr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67215-B59E-40A4-B787-9E6476F8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194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Saidapet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F50AB-8FD8-4C1B-AC2A-D0FEAB8E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B84A">
              <a:alpha val="18824"/>
            </a:srgbClr>
          </a:solidFill>
          <a:ln xmlns:a="http://schemas.openxmlformats.org/drawingml/2006/main" w="9525">
            <a:solidFill>
              <a:srgbClr val="F6B8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ECE0E0-E139-4D24-9285-D3254DEB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290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Adyar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AB5C5B-B88B-4167-A2F9-7CCFE4E4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6B">
              <a:alpha val="18824"/>
            </a:srgbClr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0BA264-757D-462D-B78D-5E6D3FC5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529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Chromepet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A83EDF-478A-4112-A7BF-73BAF30E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672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6B">
              <a:alpha val="18824"/>
            </a:srgbClr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D03999-4737-4141-83EB-2CA9AE63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7434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Tambaram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EF444A-A573-46C5-8659-85DBDF8B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B84A">
              <a:alpha val="18824"/>
            </a:srgbClr>
          </a:solidFill>
          <a:ln xmlns:a="http://schemas.openxmlformats.org/drawingml/2006/main" w="9525">
            <a:solidFill>
              <a:srgbClr val="F6B8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0FF0F8-77B4-42F3-A546-324CB8C1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194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Perambur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053427-D478-43C7-A4AF-8989A752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76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Device location can refresh the map context and weather information for the user’s current area.</a:t>
            </a:r>
          </a:p>
        </p:txBody>
      </p:sp>
    </p:spTree>
    <p:extLst>
      <p:ext uri="{BB962C8B-B14F-4D97-AF65-F5344CB8AC3E}">
        <p14:creationId xmlns:p14="http://schemas.microsoft.com/office/powerpoint/2010/main" val="1925782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056CF3-6B4D-4DF7-B55C-33177754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A481A-2E34-465F-AF0E-3AEB1271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  /  RAINFALL IMPACT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D1E9D-66B7-430B-ADDE-21E6266A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AI &amp; EXPLAINABILITY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675DF-1978-46D9-A597-476FBF51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198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 FORECASTING  •  IMPACT INTELLIGENCE  •  EMERGENCY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8BE28-9C2A-443C-9EFB-0DF80D6F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Make every rainfall forecast understandable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21F9B-B09F-482A-91CF-3C310EAA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RIIS combines forecasting models with explainable AI so users can see not only the prediction, but also the weather signals behind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B553C-E71B-4D5F-A680-0D4ABD4F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714750" cy="3905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47179-2DED-41DF-9BA6-B135FF65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HOW THE INTELLIGENCE 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76857-9CCC-459E-B95A-1B984909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3048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E267B-668D-4874-AB54-28E2792A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Live weather and device 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0E70F-EE51-45DF-888B-095887A4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7655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00EE6-0518-413E-934C-435E3CBD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048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6E60E-AFA1-4479-B45F-FCABE412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Radar, satellite and station feeds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F65F6-3990-453C-859B-9E6DC357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0995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F312E-9158-4992-B6FE-51CE90C6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3048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6D9FF">
              <a:alpha val="14118"/>
            </a:srgbClr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5CC72-49C3-4FBF-BD18-C665CB4C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Rainfall forecasting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81637-DFDE-4D54-8A2F-23A6437A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4335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8D3C0-FF89-48DE-910B-A05D3E8E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048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0A367-D835-4F3D-9D0E-8A90432B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Impact assessment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DFEDA-B5AC-4BA6-B078-89713A2C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D1C59-5312-4195-851C-7553B7ED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3048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DB1ED-023D-4A07-AC4C-85AB74F0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Explanation and confidence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38B11-83B3-4362-B314-17F649CF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6810375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02C75-DD26-4387-82BD-17ED4FF2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57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WHAT THE EXPLAINABLE AI LOOKS FOR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1B1F1E-6A21-4930-B510-629A8B10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266700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2C0E2-78FB-4C61-AC4F-CF5D796F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Humidity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3DEEB-F383-40C0-91B7-9A04B8FD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62225"/>
            <a:ext cx="266700" cy="723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6AFC67-C5BB-4D2E-8832-60F02544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Wind direction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DD4C41-7B8F-4C0A-A8D9-DC04A05F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57475"/>
            <a:ext cx="266700" cy="6286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C087A9-F08B-4538-9604-B91A61EF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Radar activity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9F0D4C-3854-499E-A37C-83A9CDA2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33675"/>
            <a:ext cx="266700" cy="5524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6B84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B1B64D-618A-45FA-B18D-8FEA62E5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Cloud cooling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0D9988-EFA9-48A9-8CDC-8669FB6C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47975"/>
            <a:ext cx="266700" cy="438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EE7B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E9113C-906D-4692-9F6E-05C6D3C1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Air pressure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6BA9D5-DB98-4796-AAEF-65B23DE7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24175"/>
            <a:ext cx="266700" cy="3619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83B323-8069-422E-9548-85E8067F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Monsoon conditions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1CC580-34BE-4CFE-A216-848B2573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6810375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6A4442-9E93-4DF7-83D2-139839B0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9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TIME-BASED FORECAST TIMELINE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B1D750-1CA2-4651-AC55-4BF2AFF6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291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AFF"/>
                </a:solidFill>
                <a:latin typeface="Aptos"/>
                <a:ea typeface="Aptos"/>
                <a:cs typeface="Aptos"/>
              </a:rPr>
              <a:t>The timeline lets users follow how rainfall, risk and confidence change as the weather system develops.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507BC6-F90B-4025-8041-7B0EC4F8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101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This makes it easier to plan action before a severe rainfall period begins.</a:t>
            </a:r>
          </a:p>
        </p:txBody>
      </p:sp>
    </p:spTree>
    <p:extLst>
      <p:ext uri="{BB962C8B-B14F-4D97-AF65-F5344CB8AC3E}">
        <p14:creationId xmlns:p14="http://schemas.microsoft.com/office/powerpoint/2010/main" val="12438142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689B1C-8B15-4503-A61C-6BFA85C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52913-FDB4-4D69-A29A-33A88AB5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  /  RAINFALL IMPACT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0166D-2D04-4F29-A0FF-9B2A08F9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IMPACT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A799C-A13C-4EEF-A0F1-1290E5BF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198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 FORECASTING  •  IMPACT INTELLIGENCE  •  EMERGENCY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33841-FB15-480D-A203-1C854338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Translate weather predictions into practical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332DC-92F4-4563-9B2D-EEA41DC4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RIIS evaluates how a rainfall event could affect daily life, infrastructure and public safety, not only how much rain may fall.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2C5B1-ED98-4A49-8C59-51E89C2C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A88CE-298E-470E-B96E-4D5403D3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Urban flooding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A3D3B-C5BF-4D30-ADBB-6F55CA6D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Identifies areas where intense rain may overwhelm drainage.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F732D-EB3C-438A-9EAD-A2BE25E3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526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B8375-5450-4479-9C9D-F626BF70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0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Waterlogging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1476E-1929-43CA-A795-B00D90CB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622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Highlights roads and neighbourhoods likely to accumulate water.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A023A-4325-4A2B-A39A-03905F2D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526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EA9D5-0B48-4D8D-AF05-989000D8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0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B8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B84A"/>
                </a:solidFill>
                <a:latin typeface="Aptos"/>
                <a:ea typeface="Aptos"/>
                <a:cs typeface="Aptos"/>
              </a:rPr>
              <a:t>Traffic disruption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CEF72-A20A-417C-A194-CA3CC023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622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Helps people and agencies prepare safer travel routes.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9342C-815B-4636-9779-7973CFD3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B3CBA-CFFD-4227-BFD9-50BA70F9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River and reservoir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F350F-076A-490D-A232-A10F9093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Supports monitoring of inflow, overflow and water release decisions.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5DA1D-4BE0-42FE-A0BF-35F3FFEF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718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1A36C-EAEA-4150-8B0A-10C28F3F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E7B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Farmer advisory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6E038-99CC-400A-AF08-5ABB0F6A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814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Converts rainfall conditions into crop-protection guidance.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BE84D-401F-4D1E-B00B-64D057EB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718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4DA3E-1E17-42DA-B28C-D81A4C87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Public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199D2-881C-4549-A0EF-C15081E1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814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Brings key threats together for emergency readiness.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249E7-FBC2-44A5-8C3C-D58D8000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209925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D8F74-74EB-473A-9002-3A014545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812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ACTION TOOLS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3F0353-009A-4BAA-8E12-0642DC2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D1958-0480-483E-8713-7350841E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Flood Simulator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871682-C311-4713-8AB8-407B43A1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908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Explores likely flooding under different rainfall conditions.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6E2787-F7E9-4016-A935-BF0AF38C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9087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E7B7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B03823-1546-4F03-9CE5-21D2CB0B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90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Farmer Advisory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5DEAAB-82EE-4C50-A20A-D5ED9D80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09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Offers practical guidance for crops and field activity.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B5EA40-4932-4D48-87F5-5849F15F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84A"/>
          </a:solidFill>
          <a:ln xmlns:a="http://schemas.openxmlformats.org/drawingml/2006/main" w="9525">
            <a:solidFill>
              <a:srgbClr val="F6B8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713881-BBAB-4E61-9B8E-F89459FA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10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Reservoir Operations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827246-3FBA-4145-9217-61AB8211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29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Supports safe storage, inflow and release decisions.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C27BEA-73D1-499E-A427-DBEBF348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08299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E06DF2-887F-4CD3-ADCF-63CD8327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Decision path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EEF634-B10F-443F-B78D-22F4341C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Rainfall forecast  →  Expected impact  →  Recommended response  →  Alert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AB4D21-7884-440A-AA4F-94F81A7C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885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The platform converts complex environmental data into a clear next step for each user group.</a:t>
            </a:r>
          </a:p>
        </p:txBody>
      </p:sp>
    </p:spTree>
    <p:extLst>
      <p:ext uri="{BB962C8B-B14F-4D97-AF65-F5344CB8AC3E}">
        <p14:creationId xmlns:p14="http://schemas.microsoft.com/office/powerpoint/2010/main" val="1259965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F11773-5052-47AD-BB2F-1673F5A2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37C27-F6E1-47B5-AEB2-668FCD28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  /  RAINFALL IMPACT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7AEE0-E51E-423A-8E4D-990AD6C5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RESPONSE ECOSYSTEM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6FE3D-7D97-42A0-9318-B0B4EA6B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198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 FORECASTING  •  IMPACT INTELLIGENCE  •  EMERGENCY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D38F7-8A72-46DC-BABF-4448283E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Bring prediction, response and learning into one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650CC-48B0-40D0-95B6-A7EEC41B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RIIS supports emergency teams, residents and administrators through a connected workflow before, during and after severe weather.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4B7ED-EFAF-4DFC-B64D-742B01B4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D60D1-03FC-429E-8DE4-0AC5B43A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ALERTS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3CFD9-75E7-4422-B25F-2EBE439B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809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AFF"/>
                </a:solidFill>
                <a:latin typeface="Aptos"/>
                <a:ea typeface="Aptos"/>
                <a:cs typeface="Aptos"/>
              </a:rPr>
              <a:t>Warnings communicate the affected area, likely impact and recommended precaution for rainfall, floods, roads, reservoirs and crops.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FBE2A-A626-4ABB-9E15-FBC18ECD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Act before the impact grows.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7683D-2FFA-48D3-8DB3-EFF954B8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5262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6E331-B2EB-4990-8DBE-FE9F950E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DISASTER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E3F97-3187-470D-952D-07909147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2809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AFF"/>
                </a:solidFill>
                <a:latin typeface="Aptos"/>
                <a:ea typeface="Aptos"/>
                <a:cs typeface="Aptos"/>
              </a:rPr>
              <a:t>Hospitals, shelters and emergency resources are displayed together to help response teams coordinate people and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481F5-C6FB-4965-8374-E5EDE08F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4337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Match resources to local need.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E93C7-51FE-409A-BEA7-C56BE333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BBBDA-5185-45DF-8359-FEBD08F1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COMMUNITY AND 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10E4D-8F4B-4997-8834-DE85BFB7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2809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AFF"/>
                </a:solidFill>
                <a:latin typeface="Aptos"/>
                <a:ea typeface="Aptos"/>
                <a:cs typeface="Aptos"/>
              </a:rPr>
              <a:t>Citizen reports show ground conditions such as waterlogging and road damage. Admin tools monitor model quality and platform activity.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433E2-95B2-43C9-BAB1-7547DF8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Learn continuously from real events.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BB958-FC3F-49BB-A1C6-525A1E12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8299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6D9FF">
              <a:alpha val="7843"/>
            </a:srgbClr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5E9FD-1204-4CE2-85CB-1F68FB1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RIIS transforms weather information into timely, explainable action for safer communities.</a:t>
            </a:r>
          </a:p>
        </p:txBody>
      </p:sp>
    </p:spTree>
    <p:extLst>
      <p:ext uri="{BB962C8B-B14F-4D97-AF65-F5344CB8AC3E}">
        <p14:creationId xmlns:p14="http://schemas.microsoft.com/office/powerpoint/2010/main" val="1356818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2026-07-20T18:58:20.9850000Z</dcterms:created>
  <dcterms:modified xsi:type="dcterms:W3CDTF">2026-07-20T18:58:20.9860000Z</dcterms:modified>
</coreProperties>
</file>