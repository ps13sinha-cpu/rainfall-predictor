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2.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3.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4.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ba733cc-3f44-6670-7e40-4b1d6b44e47b}">
          <p14:sldIdLst>
            <p14:sldId id="256"/>
          </p14:sldIdLst>
        </p14:section>
        <p14:section name="Problem" id="{13a6e585-98d9-9713-ebba-b15cea68b337}">
          <p14:sldIdLst>
            <p14:sldId id="257"/>
            <p14:sldId id="258"/>
            <p14:sldId id="259"/>
            <p14:sldId id="260"/>
            <p14:sldId id="261"/>
          </p14:sldIdLst>
        </p14:section>
        <p14:section name="Solution" id="{4ddb50d2-1ed7-87d3-2d6e-1165ed66ce6b}">
          <p14:sldIdLst>
            <p14:sldId id="262"/>
            <p14:sldId id="263"/>
            <p14:sldId id="264"/>
            <p14:sldId id="265"/>
            <p14:sldId id="266"/>
          </p14:sldIdLst>
        </p14:section>
        <p14:section name="Models" id="{8c43d123-57dc-139a-6182-a631af85a8a6}">
          <p14:sldIdLst>
            <p14:sldId id="267"/>
            <p14:sldId id="268"/>
            <p14:sldId id="269"/>
            <p14:sldId id="270"/>
          </p14:sldIdLst>
        </p14:section>
        <p14:section name="Actions" id="{aba69a9a-6f33-2026-1310-46872c17e414}">
          <p14:sldIdLst>
            <p14:sldId id="271"/>
            <p14:sldId id="272"/>
            <p14:sldId id="273"/>
          </p14:sldIdLst>
        </p14:section>
        <p14:section name="Status" id="{8fe8e135-90fe-544d-fee9-ece961d4af35}">
          <p14:sldIdLst>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Weight %</c:v>
                </c:pt>
              </c:strCache>
            </c:strRef>
          </c:tx>
          <c:spPr>
            <a:solidFill>
              <a:srgbClr val="0E9FB5"/>
            </a:solidFill>
            <a:effectLst/>
          </c:spPr>
          <c:invertIfNegative val="0"/>
          <c:dLbls>
            <c:numFmt formatCode="#,##0" sourceLinked="0"/>
            <c:txPr>
              <a:bodyPr/>
              <a:lstStyle/>
              <a:p>
                <a:pPr>
                  <a:defRPr b="0" i="0" strike="noStrike" sz="1000" u="none">
                    <a:solidFill>
                      <a:srgbClr val="1E293B"/>
                    </a:solidFill>
                    <a:latin typeface="+mn-lt"/>
                  </a:defRPr>
                </a:pPr>
              </a:p>
            </c:txPr>
            <c:showLegendKey val="0"/>
            <c:showVal val="1"/>
            <c:showCatName val="0"/>
            <c:showSerName val="0"/>
            <c:showPercent val="0"/>
            <c:showBubbleSize val="0"/>
            <c:showLeaderLines val="0"/>
          </c:dLbls>
          <c:cat>
            <c:multiLvlStrRef>
              <c:f>Sheet1!$A$2:$A$11</c:f>
              <c:multiLvlStrCache>
                <c:ptCount val="10"/>
                <c:lvl>
                  <c:pt idx="0">
                    <c:v>Land cover</c:v>
                  </c:pt>
                  <c:pt idx="1">
                    <c:v>Model</c:v>
                  </c:pt>
                  <c:pt idx="2">
                    <c:v>Real-time</c:v>
                  </c:pt>
                  <c:pt idx="3">
                    <c:v>Historical</c:v>
                  </c:pt>
                  <c:pt idx="4">
                    <c:v>Exposure</c:v>
                  </c:pt>
                  <c:pt idx="5">
                    <c:v>Upstream &amp; Coastal</c:v>
                  </c:pt>
                  <c:pt idx="6">
                    <c:v>Drainage</c:v>
                  </c:pt>
                  <c:pt idx="7">
                    <c:v>Topographical</c:v>
                  </c:pt>
                  <c:pt idx="8">
                    <c:v>Hydrological</c:v>
                  </c:pt>
                  <c:pt idx="9">
                    <c:v>Meteorological</c:v>
                  </c:pt>
                </c:lvl>
              </c:multiLvlStrCache>
            </c:multiLvlStrRef>
          </c:cat>
          <c:val>
            <c:numRef>
              <c:f>Sheet1!$B$2:$B$11</c:f>
              <c:numCache>
                <c:formatCode>General</c:formatCode>
                <c:ptCount val="10"/>
                <c:pt idx="0">
                  <c:v>4</c:v>
                </c:pt>
                <c:pt idx="1">
                  <c:v>5</c:v>
                </c:pt>
                <c:pt idx="2">
                  <c:v>7</c:v>
                </c:pt>
                <c:pt idx="3">
                  <c:v>7</c:v>
                </c:pt>
                <c:pt idx="4">
                  <c:v>7</c:v>
                </c:pt>
                <c:pt idx="5">
                  <c:v>8</c:v>
                </c:pt>
                <c:pt idx="6">
                  <c:v>13</c:v>
                </c:pt>
                <c:pt idx="7">
                  <c:v>13</c:v>
                </c:pt>
                <c:pt idx="8">
                  <c:v>14</c:v>
                </c:pt>
                <c:pt idx="9">
                  <c:v>22</c:v>
                </c:pt>
              </c:numCache>
            </c:numRef>
          </c:val>
        </c:ser>
        <c:dLbls>
          <c:numFmt formatCode="#,##0" sourceLinked="0"/>
          <c:txPr>
            <a:bodyPr/>
            <a:lstStyle/>
            <a:p>
              <a:pPr>
                <a:defRPr b="0" i="0" strike="noStrike" sz="1000" u="none">
                  <a:solidFill>
                    <a:srgbClr val="1E293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64748B"/>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4748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Heavy-rain AUC</c:v>
                </c:pt>
              </c:strCache>
            </c:strRef>
          </c:tx>
          <c:spPr>
            <a:solidFill>
              <a:srgbClr val="0E9FB5"/>
            </a:solidFill>
            <a:effectLst/>
          </c:spPr>
          <c:invertIfNegative val="0"/>
          <c:dLbls>
            <c:numFmt formatCode="0.00" sourceLinked="0"/>
            <c:txPr>
              <a:bodyPr/>
              <a:lstStyle/>
              <a:p>
                <a:pPr>
                  <a:defRPr b="0" i="0" strike="noStrike" sz="1000" u="none">
                    <a:solidFill>
                      <a:srgbClr val="1E293B"/>
                    </a:solidFill>
                    <a:latin typeface="+mn-lt"/>
                  </a:defRPr>
                </a:pPr>
              </a:p>
            </c:txPr>
            <c:showLegendKey val="0"/>
            <c:showVal val="1"/>
            <c:showCatName val="0"/>
            <c:showSerName val="0"/>
            <c:showPercent val="0"/>
            <c:showBubbleSize val="0"/>
            <c:showLeaderLines val="0"/>
          </c:dLbls>
          <c:cat>
            <c:multiLvlStrRef>
              <c:f>Sheet1!$A$2:$A$7</c:f>
              <c:multiLvlStrCache>
                <c:ptCount val="6"/>
                <c:lvl>
                  <c:pt idx="0">
                    <c:v>XGBoost</c:v>
                  </c:pt>
                  <c:pt idx="1">
                    <c:v>Random Forest</c:v>
                  </c:pt>
                  <c:pt idx="2">
                    <c:v>Gradient Boost</c:v>
                  </c:pt>
                  <c:pt idx="3">
                    <c:v>Ensemble</c:v>
                  </c:pt>
                  <c:pt idx="4">
                    <c:v>LSTM</c:v>
                  </c:pt>
                  <c:pt idx="5">
                    <c:v>Transformer</c:v>
                  </c:pt>
                </c:lvl>
              </c:multiLvlStrCache>
            </c:multiLvlStrRef>
          </c:cat>
          <c:val>
            <c:numRef>
              <c:f>Sheet1!$B$2:$B$7</c:f>
              <c:numCache>
                <c:formatCode>General</c:formatCode>
                <c:ptCount val="6"/>
                <c:pt idx="0">
                  <c:v>0.87</c:v>
                </c:pt>
                <c:pt idx="1">
                  <c:v>0.868</c:v>
                </c:pt>
                <c:pt idx="2">
                  <c:v>0.854</c:v>
                </c:pt>
                <c:pt idx="3">
                  <c:v>0.868</c:v>
                </c:pt>
                <c:pt idx="4">
                  <c:v>0.877</c:v>
                </c:pt>
                <c:pt idx="5">
                  <c:v>0.88</c:v>
                </c:pt>
              </c:numCache>
            </c:numRef>
          </c:val>
        </c:ser>
        <c:dLbls>
          <c:numFmt formatCode="0.00" sourceLinked="0"/>
          <c:txPr>
            <a:bodyPr/>
            <a:lstStyle/>
            <a:p>
              <a:pPr>
                <a:defRPr b="0" i="0" strike="noStrike" sz="1000" u="none">
                  <a:solidFill>
                    <a:srgbClr val="1E293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4748B"/>
                </a:solidFill>
                <a:latin typeface="+mn-lt"/>
              </a:defRPr>
            </a:pPr>
            <a:endParaRPr lang="en-US"/>
          </a:p>
        </c:txPr>
        <c:crossAx val="2094734552"/>
        <c:crosses val="autoZero"/>
        <c:auto val="1"/>
        <c:lblAlgn val="ctr"/>
        <c:noMultiLvlLbl val="1"/>
      </c:catAx>
      <c:valAx>
        <c:axId val="2094734552"/>
        <c:scaling>
          <c:orientation val="minMax"/>
          <c:max val="1"/>
          <c:min val="0.5"/>
        </c:scaling>
        <c:delete val="0"/>
        <c:axPos val="l"/>
        <c:majorGridlines>
          <c:spPr>
            <a:ln w="6350" cap="flat">
              <a:solidFill>
                <a:srgbClr val="D9DEE7"/>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mn-lt"/>
              </a:defRPr>
            </a:pPr>
            <a:endParaRPr lang="en-US"/>
          </a:p>
        </c:txPr>
        <c:crossAx val="2094734554"/>
        <c:crosses val="autoZero"/>
        <c:crossBetween val="between"/>
        <c:majorUnit val="0.1"/>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ConvLSTM</c:v>
                </c:pt>
              </c:strCache>
            </c:strRef>
          </c:tx>
          <c:spPr>
            <a:solidFill>
              <a:srgbClr val="0E9FB5"/>
            </a:solidFill>
            <a:effectLst/>
          </c:spPr>
          <c:invertIfNegative val="0"/>
          <c:dLbls>
            <c:numFmt formatCode="0.00" sourceLinked="0"/>
            <c:txPr>
              <a:bodyPr/>
              <a:lstStyle/>
              <a:p>
                <a:pPr>
                  <a:defRPr b="0" i="0" strike="noStrike" sz="1000" u="none">
                    <a:solidFill>
                      <a:srgbClr val="1E293B"/>
                    </a:solidFill>
                    <a:latin typeface="+mn-lt"/>
                  </a:defRPr>
                </a:pPr>
              </a:p>
            </c:txPr>
            <c:showLegendKey val="0"/>
            <c:showVal val="1"/>
            <c:showCatName val="0"/>
            <c:showSerName val="0"/>
            <c:showPercent val="0"/>
            <c:showBubbleSize val="0"/>
            <c:showLeaderLines val="0"/>
          </c:dLbls>
          <c:cat>
            <c:multiLvlStrRef>
              <c:f>Sheet1!$A$2:$A$4</c:f>
              <c:multiLvlStrCache>
                <c:ptCount val="3"/>
                <c:lvl>
                  <c:pt idx="0">
                    <c:v>CSI at 1 mm</c:v>
                  </c:pt>
                  <c:pt idx="1">
                    <c:v>CSI at 5 mm</c:v>
                  </c:pt>
                  <c:pt idx="2">
                    <c:v>CSI at 20 mm</c:v>
                  </c:pt>
                </c:lvl>
              </c:multiLvlStrCache>
            </c:multiLvlStrRef>
          </c:cat>
          <c:val>
            <c:numRef>
              <c:f>Sheet1!$B$2:$B$4</c:f>
              <c:numCache>
                <c:formatCode>General</c:formatCode>
                <c:ptCount val="3"/>
                <c:pt idx="0">
                  <c:v>0.537</c:v>
                </c:pt>
                <c:pt idx="1">
                  <c:v>0.438</c:v>
                </c:pt>
                <c:pt idx="2">
                  <c:v>0.256</c:v>
                </c:pt>
              </c:numCache>
            </c:numRef>
          </c:val>
        </c:ser>
        <c:ser>
          <c:idx val="1"/>
          <c:order val="1"/>
          <c:tx>
            <c:strRef>
              <c:f>Sheet1!$C$1</c:f>
              <c:strCache>
                <c:ptCount val="1"/>
                <c:pt idx="0">
                  <c:v>Persistence</c:v>
                </c:pt>
              </c:strCache>
            </c:strRef>
          </c:tx>
          <c:spPr>
            <a:solidFill>
              <a:srgbClr val="B8C2D1"/>
            </a:solidFill>
            <a:effectLst/>
          </c:spPr>
          <c:invertIfNegative val="0"/>
          <c:dLbls>
            <c:numFmt formatCode="0.00" sourceLinked="0"/>
            <c:txPr>
              <a:bodyPr/>
              <a:lstStyle/>
              <a:p>
                <a:pPr>
                  <a:defRPr b="0" i="0" strike="noStrike" sz="1000" u="none">
                    <a:solidFill>
                      <a:srgbClr val="1E293B"/>
                    </a:solidFill>
                    <a:latin typeface="+mn-lt"/>
                  </a:defRPr>
                </a:pPr>
              </a:p>
            </c:txPr>
            <c:showLegendKey val="0"/>
            <c:showVal val="1"/>
            <c:showCatName val="0"/>
            <c:showSerName val="0"/>
            <c:showPercent val="0"/>
            <c:showBubbleSize val="0"/>
            <c:showLeaderLines val="0"/>
          </c:dLbls>
          <c:cat>
            <c:multiLvlStrRef>
              <c:f>Sheet1!$A$2:$A$4</c:f>
              <c:multiLvlStrCache>
                <c:ptCount val="3"/>
                <c:lvl>
                  <c:pt idx="0">
                    <c:v>CSI at 1 mm</c:v>
                  </c:pt>
                  <c:pt idx="1">
                    <c:v>CSI at 5 mm</c:v>
                  </c:pt>
                  <c:pt idx="2">
                    <c:v>CSI at 20 mm</c:v>
                  </c:pt>
                </c:lvl>
              </c:multiLvlStrCache>
            </c:multiLvlStrRef>
          </c:cat>
          <c:val>
            <c:numRef>
              <c:f>Sheet1!$C$2:$C$4</c:f>
              <c:numCache>
                <c:formatCode>General</c:formatCode>
                <c:ptCount val="3"/>
                <c:pt idx="0">
                  <c:v>0.49</c:v>
                </c:pt>
                <c:pt idx="1">
                  <c:v>0.35</c:v>
                </c:pt>
                <c:pt idx="2">
                  <c:v>0.318</c:v>
                </c:pt>
              </c:numCache>
            </c:numRef>
          </c:val>
        </c:ser>
        <c:dLbls>
          <c:numFmt formatCode="0.00" sourceLinked="0"/>
          <c:txPr>
            <a:bodyPr/>
            <a:lstStyle/>
            <a:p>
              <a:pPr>
                <a:defRPr b="0" i="0" strike="noStrike" sz="1000" u="none">
                  <a:solidFill>
                    <a:srgbClr val="1E293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4748B"/>
                </a:solidFill>
                <a:latin typeface="+mn-lt"/>
              </a:defRPr>
            </a:pPr>
            <a:endParaRPr lang="en-US"/>
          </a:p>
        </c:txPr>
        <c:crossAx val="2094734552"/>
        <c:crosses val="autoZero"/>
        <c:auto val="1"/>
        <c:lblAlgn val="ctr"/>
        <c:noMultiLvlLbl val="1"/>
      </c:catAx>
      <c:valAx>
        <c:axId val="2094734552"/>
        <c:scaling>
          <c:orientation val="minMax"/>
          <c:max val="0.7"/>
        </c:scaling>
        <c:delete val="0"/>
        <c:axPos val="l"/>
        <c:majorGridlines>
          <c:spPr>
            <a:ln w="6350" cap="flat">
              <a:solidFill>
                <a:srgbClr val="D9DEE7"/>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mn-lt"/>
              </a:defRPr>
            </a:pPr>
            <a:endParaRPr lang="en-US"/>
          </a:p>
        </c:txPr>
        <c:crossAx val="2094734554"/>
        <c:crosses val="autoZero"/>
        <c:crossBetween val="between"/>
        <c:majorUnit val="0.1"/>
      </c:valAx>
      <c:spPr>
        <a:noFill/>
        <a:ln>
          <a:noFill/>
        </a:ln>
        <a:effectLst/>
      </c:spPr>
    </c:plotArea>
    <c:legend>
      <c:legendPos val="b"/>
      <c:overlay val="0"/>
      <c:txPr>
        <a:bodyPr/>
        <a:lstStyle/>
        <a:p>
          <a:pPr>
            <a:defRPr sz="1100">
              <a:solidFill>
                <a:srgbClr val="1E293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Importance %</c:v>
                </c:pt>
              </c:strCache>
            </c:strRef>
          </c:tx>
          <c:spPr>
            <a:solidFill>
              <a:srgbClr val="0E9FB5"/>
            </a:solidFill>
            <a:effectLst/>
          </c:spPr>
          <c:invertIfNegative val="0"/>
          <c:dLbls>
            <c:numFmt formatCode="0.0" sourceLinked="0"/>
            <c:txPr>
              <a:bodyPr/>
              <a:lstStyle/>
              <a:p>
                <a:pPr>
                  <a:defRPr b="0" i="0" strike="noStrike" sz="1000" u="none">
                    <a:solidFill>
                      <a:srgbClr val="1E293B"/>
                    </a:solidFill>
                    <a:latin typeface="+mn-lt"/>
                  </a:defRPr>
                </a:pPr>
              </a:p>
            </c:txPr>
            <c:showLegendKey val="0"/>
            <c:showVal val="1"/>
            <c:showCatName val="0"/>
            <c:showSerName val="0"/>
            <c:showPercent val="0"/>
            <c:showBubbleSize val="0"/>
            <c:showLeaderLines val="0"/>
          </c:dLbls>
          <c:cat>
            <c:multiLvlStrRef>
              <c:f>Sheet1!$A$2:$A$9</c:f>
              <c:multiLvlStrCache>
                <c:ptCount val="8"/>
                <c:lvl>
                  <c:pt idx="0">
                    <c:v>Temp range</c:v>
                  </c:pt>
                  <c:pt idx="1">
                    <c:v>Dew point</c:v>
                  </c:pt>
                  <c:pt idx="2">
                    <c:v>Latitude</c:v>
                  </c:pt>
                  <c:pt idx="3">
                    <c:v>14-day rain sum</c:v>
                  </c:pt>
                  <c:pt idx="4">
                    <c:v>Cloud cover</c:v>
                  </c:pt>
                  <c:pt idx="5">
                    <c:v>7-day rain sum</c:v>
                  </c:pt>
                  <c:pt idx="6">
                    <c:v>3-day rain sum</c:v>
                  </c:pt>
                  <c:pt idx="7">
                    <c:v>Rain today</c:v>
                  </c:pt>
                </c:lvl>
              </c:multiLvlStrCache>
            </c:multiLvlStrRef>
          </c:cat>
          <c:val>
            <c:numRef>
              <c:f>Sheet1!$B$2:$B$9</c:f>
              <c:numCache>
                <c:formatCode>General</c:formatCode>
                <c:ptCount val="8"/>
                <c:pt idx="0">
                  <c:v>2.6</c:v>
                </c:pt>
                <c:pt idx="1">
                  <c:v>2.7</c:v>
                </c:pt>
                <c:pt idx="2">
                  <c:v>2.9</c:v>
                </c:pt>
                <c:pt idx="3">
                  <c:v>3.1</c:v>
                </c:pt>
                <c:pt idx="4">
                  <c:v>3.3</c:v>
                </c:pt>
                <c:pt idx="5">
                  <c:v>4.1</c:v>
                </c:pt>
                <c:pt idx="6">
                  <c:v>12</c:v>
                </c:pt>
                <c:pt idx="7">
                  <c:v>34.4</c:v>
                </c:pt>
              </c:numCache>
            </c:numRef>
          </c:val>
        </c:ser>
        <c:dLbls>
          <c:numFmt formatCode="0.0" sourceLinked="0"/>
          <c:txPr>
            <a:bodyPr/>
            <a:lstStyle/>
            <a:p>
              <a:pPr>
                <a:defRPr b="0" i="0" strike="noStrike" sz="1000" u="none">
                  <a:solidFill>
                    <a:srgbClr val="1E293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64748B"/>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4748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thesis: rainfall is forecast by district, but damage happens by street. RIIS closes that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events had rainfall warnings in some form. What was missing was the translation into local impact and the time to act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 picture sit for a few seconds before speaking. This is the Adyar corridor from the air on the morning after the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clearly that the photo is the 2008 Kosi flood, used because 2026 press photos are copyrighted. The same embankments failed again this year. Figures are from state bulletins and reporting through 7 October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card is one documented event. Full citations are in PROBLEM_STATEMENT_EVIDENCE.md.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Pipeline in one line: data in, impact engine and models in the middle, decisions out. The screenshot is the live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to right: free data sources, the FastAPI backend with services, the ML layer and SQLite storage, the REST API, the React frontend, and the outputs. Full-size image is outputs/RIIS_Architecture.png.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strongest algorithm in the project. It is physics and geometry, not ML, and it is what makes the road scoring and ponding depth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about accuracy: the earlier version reported 99.95 percent because the label leaked from the features. We caught that, relabelled to next-day, and these are the honest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this live if time allows: set a destination 1.5 km away, drag the rainfall slider, watch roads turn red and the route bend.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slide out loud. Naming the limits is what makes the rest believable.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DARK-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CONTENT_DARK-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600200"/>
            <a:ext cx="8046720" cy="1188720"/>
          </a:xfrm>
          <a:prstGeom prst="rect">
            <a:avLst/>
          </a:prstGeom>
          <a:noFill/>
          <a:ln/>
        </p:spPr>
        <p:txBody>
          <a:bodyPr wrap="square" rtlCol="0"/>
          <a:lstStyle>
            <a:lvl1pPr algn="l" indent="0" marL="0">
              <a:buNone/>
              <a:defRPr lang="en-US" sz="4400" b="1" dirty="0">
                <a:solidFill>
                  <a:srgbClr val="FFFFFF"/>
                </a:solidFill>
              </a:defRPr>
            </a:lvl1pPr>
          </a:lstStyle>
          <a:p>
            <a:pPr algn="l" indent="0" marL="0">
              <a:buNone/>
            </a:pPr>
            <a:endParaRPr lang="en-US" sz="4400" dirty="0"/>
          </a:p>
        </p:txBody>
      </p:sp>
      <p:sp>
        <p:nvSpPr>
          <p:cNvPr id="3" name="Text 0"/>
          <p:cNvSpPr/>
          <p:nvPr>
            <p:ph idx="101" type="body" hasCustomPrompt="1"/>
          </p:nvPr>
        </p:nvSpPr>
        <p:spPr>
          <a:xfrm>
            <a:off x="548640" y="2926080"/>
            <a:ext cx="8046720" cy="914400"/>
          </a:xfrm>
          <a:prstGeom prst="rect">
            <a:avLst/>
          </a:prstGeom>
          <a:noFill/>
          <a:ln/>
        </p:spPr>
        <p:txBody>
          <a:bodyPr wrap="square" rtlCol="0"/>
          <a:lstStyle>
            <a:lvl1pPr algn="l" indent="0" marL="0">
              <a:buNone/>
              <a:defRPr lang="en-US" sz="2000" dirty="0">
                <a:solidFill>
                  <a:srgbClr val="7DD3FC"/>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rtlCol="0"/>
          <a:lstStyle>
            <a:lvl1pPr indent="0" marL="0">
              <a:buNone/>
              <a:defRPr lang="en-US" sz="2800" b="1" dirty="0">
                <a:solidFill>
                  <a:srgbClr val="0B1220"/>
                </a:solidFill>
              </a:defRPr>
            </a:lvl1pPr>
          </a:lstStyle>
          <a:p>
            <a:pPr indent="0" marL="0">
              <a:buNone/>
            </a:pPr>
            <a:endParaRPr lang="en-US" sz="2800" dirty="0"/>
          </a:p>
        </p:txBody>
      </p:sp>
      <p:sp>
        <p:nvSpPr>
          <p:cNvPr id="3" name="Text 0"/>
          <p:cNvSpPr/>
          <p:nvPr/>
        </p:nvSpPr>
        <p:spPr>
          <a:xfrm>
            <a:off x="457200" y="4773168"/>
            <a:ext cx="5486400" cy="274320"/>
          </a:xfrm>
          <a:prstGeom prst="rect">
            <a:avLst/>
          </a:prstGeom>
          <a:noFill/>
          <a:ln/>
        </p:spPr>
        <p:txBody>
          <a:bodyPr wrap="square" lIns="0" tIns="0" rIns="0" bIns="0" rtlCol="0" anchor="ctr"/>
          <a:lstStyle/>
          <a:p>
            <a:pPr indent="0" marL="0">
              <a:buNone/>
            </a:pPr>
            <a:r>
              <a:rPr lang="en-US" sz="900" dirty="0">
                <a:solidFill>
                  <a:srgbClr val="64748B"/>
                </a:solidFill>
              </a:rPr>
              <a:t>RIIS  ·  Rainfall Impact Intelligence System</a:t>
            </a:r>
            <a:endParaRPr lang="en-US" sz="900" dirty="0"/>
          </a:p>
        </p:txBody>
      </p:sp>
      <p:sp>
        <p:nvSpPr>
          <p:cNvPr id="25" name="Slide Number Placeholder 0"/>
          <p:cNvSpPr>
            <a:spLocks noGrp="1"/>
          </p:cNvSpPr>
          <p:nvPr>
            <p:ph type="sldNum" sz="quarter" idx="4294967295"/>
          </p:nvPr>
        </p:nvSpPr>
        <p:spPr>
          <a:xfrm>
            <a:off x="832104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rtlCol="0"/>
          <a:lstStyle>
            <a:lvl1pPr indent="0" marL="0">
              <a:buNone/>
              <a:defRPr lang="en-US" sz="2800" b="1" dirty="0">
                <a:solidFill>
                  <a:srgbClr val="FFFFFF"/>
                </a:solidFill>
              </a:defRPr>
            </a:lvl1pPr>
          </a:lstStyle>
          <a:p>
            <a:pPr indent="0" marL="0">
              <a:buNone/>
            </a:pPr>
            <a:endParaRPr lang="en-US" sz="2800" dirty="0"/>
          </a:p>
        </p:txBody>
      </p:sp>
      <p:sp>
        <p:nvSpPr>
          <p:cNvPr id="3" name="Text 0"/>
          <p:cNvSpPr/>
          <p:nvPr/>
        </p:nvSpPr>
        <p:spPr>
          <a:xfrm>
            <a:off x="457200" y="4773168"/>
            <a:ext cx="5486400" cy="274320"/>
          </a:xfrm>
          <a:prstGeom prst="rect">
            <a:avLst/>
          </a:prstGeom>
          <a:noFill/>
          <a:ln/>
        </p:spPr>
        <p:txBody>
          <a:bodyPr wrap="square" lIns="0" tIns="0" rIns="0" bIns="0" rtlCol="0" anchor="ctr"/>
          <a:lstStyle/>
          <a:p>
            <a:pPr indent="0" marL="0">
              <a:buNone/>
            </a:pPr>
            <a:r>
              <a:rPr lang="en-US" sz="900" dirty="0">
                <a:solidFill>
                  <a:srgbClr val="64748B"/>
                </a:solidFill>
              </a:rPr>
              <a:t>RIIS  ·  Rainfall Impact Intelligence System</a:t>
            </a:r>
            <a:endParaRPr lang="en-US" sz="900" dirty="0"/>
          </a:p>
        </p:txBody>
      </p:sp>
      <p:sp>
        <p:nvSpPr>
          <p:cNvPr id="25" name="Slide Number Placeholder 0"/>
          <p:cNvSpPr>
            <a:spLocks noGrp="1"/>
          </p:cNvSpPr>
          <p:nvPr>
            <p:ph type="sldNum" sz="quarter" idx="4294967295"/>
          </p:nvPr>
        </p:nvSpPr>
        <p:spPr>
          <a:xfrm>
            <a:off x="832104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502920"/>
            <a:ext cx="4572000" cy="1005840"/>
          </a:xfrm>
          <a:prstGeom prst="rect">
            <a:avLst/>
          </a:prstGeom>
          <a:noFill/>
          <a:ln/>
        </p:spPr>
        <p:txBody>
          <a:bodyPr wrap="square" lIns="0" tIns="0" rIns="0" bIns="0" rtlCol="0" anchor="t"/>
          <a:lstStyle/>
          <a:p>
            <a:pPr indent="0" marL="0">
              <a:buNone/>
            </a:pPr>
            <a:r>
              <a:rPr lang="en-US" sz="7200" b="1" dirty="0">
                <a:solidFill>
                  <a:schemeClr val="bg1"/>
                </a:solidFill>
                <a:latin typeface="Cambria" pitchFamily="34" charset="0"/>
                <a:ea typeface="Cambria" pitchFamily="34" charset="-122"/>
                <a:cs typeface="Cambria" pitchFamily="34" charset="-120"/>
              </a:rPr>
              <a:t>RIIS</a:t>
            </a:r>
            <a:endParaRPr lang="en-US" sz="7200" dirty="0"/>
          </a:p>
        </p:txBody>
      </p:sp>
      <p:sp>
        <p:nvSpPr>
          <p:cNvPr id="3" name="Text 0"/>
          <p:cNvSpPr/>
          <p:nvPr>
            <p:ph idx="100" type="title" hasCustomPrompt="1"/>
          </p:nvPr>
        </p:nvSpPr>
        <p:spPr>
          <a:xfrm>
            <a:off x="548640" y="1600200"/>
            <a:ext cx="8046720" cy="1188720"/>
          </a:xfrm>
          <a:prstGeom prst="rect">
            <a:avLst/>
          </a:prstGeom>
          <a:noFill/>
          <a:ln/>
        </p:spPr>
        <p:txBody>
          <a:bodyPr wrap="square" lIns="0" tIns="0" rIns="0" bIns="0" rtlCol="0" anchor="b"/>
          <a:lstStyle/>
          <a:p>
            <a:pPr algn="l" indent="0" marL="0">
              <a:buNone/>
            </a:pPr>
            <a:r>
              <a:rPr lang="en-US" sz="4400" b="1" dirty="0">
                <a:solidFill>
                  <a:srgbClr val="FFFFFF"/>
                </a:solidFill>
              </a:rPr>
              <a:t>Rainfall Impact Intelligence System</a:t>
            </a:r>
            <a:endParaRPr lang="en-US" sz="4400" dirty="0"/>
          </a:p>
        </p:txBody>
      </p:sp>
      <p:sp>
        <p:nvSpPr>
          <p:cNvPr id="4" name="Text 0"/>
          <p:cNvSpPr/>
          <p:nvPr>
            <p:ph idx="101" type="body" hasCustomPrompt="1"/>
          </p:nvPr>
        </p:nvSpPr>
        <p:spPr>
          <a:xfrm>
            <a:off x="548640" y="2926080"/>
            <a:ext cx="8046720" cy="914400"/>
          </a:xfrm>
          <a:prstGeom prst="rect">
            <a:avLst/>
          </a:prstGeom>
          <a:noFill/>
          <a:ln/>
        </p:spPr>
        <p:txBody>
          <a:bodyPr wrap="square" lIns="0" tIns="0" rIns="0" bIns="0" rtlCol="0" anchor="t"/>
          <a:lstStyle/>
          <a:p>
            <a:pPr algn="l" indent="0" marL="0">
              <a:buNone/>
            </a:pPr>
            <a:r>
              <a:rPr lang="en-US" sz="2000" dirty="0">
                <a:solidFill>
                  <a:srgbClr val="7DD3FC"/>
                </a:solidFill>
              </a:rPr>
              <a:t>From a district forecast to the street outside your door</a:t>
            </a:r>
            <a:endParaRPr lang="en-US" sz="2000" dirty="0"/>
          </a:p>
        </p:txBody>
      </p:sp>
      <p:sp>
        <p:nvSpPr>
          <p:cNvPr id="5" name="Text 3"/>
          <p:cNvSpPr txBox="1"/>
          <p:nvPr/>
        </p:nvSpPr>
        <p:spPr>
          <a:xfrm>
            <a:off x="548640" y="3840480"/>
            <a:ext cx="1828800" cy="457200"/>
          </a:xfrm>
          <a:prstGeom prst="rect">
            <a:avLst/>
          </a:prstGeom>
          <a:noFill/>
          <a:ln/>
        </p:spPr>
        <p:txBody>
          <a:bodyPr wrap="square" lIns="0" tIns="0" rIns="0" bIns="0" rtlCol="0" anchor="ctr"/>
          <a:lstStyle/>
          <a:p>
            <a:pPr indent="0" marL="0">
              <a:buNone/>
            </a:pPr>
            <a:r>
              <a:rPr lang="en-US" sz="1600" dirty="0">
                <a:solidFill>
                  <a:schemeClr val="bg1"/>
                </a:solidFill>
              </a:rPr>
              <a:t>Live weather</a:t>
            </a:r>
            <a:endParaRPr lang="en-US" sz="1600" dirty="0"/>
          </a:p>
        </p:txBody>
      </p:sp>
      <p:sp>
        <p:nvSpPr>
          <p:cNvPr id="6" name="Text 4"/>
          <p:cNvSpPr txBox="1"/>
          <p:nvPr/>
        </p:nvSpPr>
        <p:spPr>
          <a:xfrm>
            <a:off x="2560320" y="3840480"/>
            <a:ext cx="1828800" cy="457200"/>
          </a:xfrm>
          <a:prstGeom prst="rect">
            <a:avLst/>
          </a:prstGeom>
          <a:noFill/>
          <a:ln/>
        </p:spPr>
        <p:txBody>
          <a:bodyPr wrap="square" lIns="0" tIns="0" rIns="0" bIns="0" rtlCol="0" anchor="ctr"/>
          <a:lstStyle/>
          <a:p>
            <a:pPr indent="0" marL="0">
              <a:buNone/>
            </a:pPr>
            <a:r>
              <a:rPr lang="en-US" sz="1600" dirty="0">
                <a:solidFill>
                  <a:schemeClr val="bg1"/>
                </a:solidFill>
              </a:rPr>
              <a:t>Real terrain</a:t>
            </a:r>
            <a:endParaRPr lang="en-US" sz="1600" dirty="0"/>
          </a:p>
        </p:txBody>
      </p:sp>
      <p:sp>
        <p:nvSpPr>
          <p:cNvPr id="7" name="Text 5"/>
          <p:cNvSpPr txBox="1"/>
          <p:nvPr/>
        </p:nvSpPr>
        <p:spPr>
          <a:xfrm>
            <a:off x="4572000" y="3840480"/>
            <a:ext cx="1828800" cy="457200"/>
          </a:xfrm>
          <a:prstGeom prst="rect">
            <a:avLst/>
          </a:prstGeom>
          <a:noFill/>
          <a:ln/>
        </p:spPr>
        <p:txBody>
          <a:bodyPr wrap="square" lIns="0" tIns="0" rIns="0" bIns="0" rtlCol="0" anchor="ctr"/>
          <a:lstStyle/>
          <a:p>
            <a:pPr indent="0" marL="0">
              <a:buNone/>
            </a:pPr>
            <a:r>
              <a:rPr lang="en-US" sz="1600" dirty="0">
                <a:solidFill>
                  <a:schemeClr val="bg1"/>
                </a:solidFill>
              </a:rPr>
              <a:t>8 trained models</a:t>
            </a:r>
            <a:endParaRPr lang="en-US" sz="1600" dirty="0"/>
          </a:p>
        </p:txBody>
      </p:sp>
      <p:sp>
        <p:nvSpPr>
          <p:cNvPr id="8" name="Text 6"/>
          <p:cNvSpPr txBox="1"/>
          <p:nvPr/>
        </p:nvSpPr>
        <p:spPr>
          <a:xfrm>
            <a:off x="6583680" y="3840480"/>
            <a:ext cx="1828800" cy="457200"/>
          </a:xfrm>
          <a:prstGeom prst="rect">
            <a:avLst/>
          </a:prstGeom>
          <a:noFill/>
          <a:ln/>
        </p:spPr>
        <p:txBody>
          <a:bodyPr wrap="square" lIns="0" tIns="0" rIns="0" bIns="0" rtlCol="0" anchor="ctr"/>
          <a:lstStyle/>
          <a:p>
            <a:pPr indent="0" marL="0">
              <a:buNone/>
            </a:pPr>
            <a:r>
              <a:rPr lang="en-US" sz="1600" dirty="0">
                <a:solidFill>
                  <a:schemeClr val="bg1"/>
                </a:solidFill>
              </a:rPr>
              <a:t>Safe routes</a:t>
            </a:r>
            <a:endParaRPr lang="en-US" sz="1600" dirty="0"/>
          </a:p>
        </p:txBody>
      </p:sp>
      <p:sp>
        <p:nvSpPr>
          <p:cNvPr id="9" name="Text 7"/>
          <p:cNvSpPr txBox="1"/>
          <p:nvPr/>
        </p:nvSpPr>
        <p:spPr>
          <a:xfrm>
            <a:off x="548640" y="4663440"/>
            <a:ext cx="4572000" cy="274320"/>
          </a:xfrm>
          <a:prstGeom prst="rect">
            <a:avLst/>
          </a:prstGeom>
          <a:noFill/>
          <a:ln/>
        </p:spPr>
        <p:txBody>
          <a:bodyPr wrap="square" lIns="0" tIns="0" rIns="0" bIns="0" rtlCol="0" anchor="t"/>
          <a:lstStyle/>
          <a:p>
            <a:pPr indent="0" marL="0">
              <a:buNone/>
            </a:pPr>
            <a:r>
              <a:rPr lang="en-US" sz="1100" dirty="0">
                <a:solidFill>
                  <a:schemeClr val="accent5"/>
                </a:solidFill>
              </a:rPr>
              <a:t>Tamil Nadu  ·  October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indent="0" marL="0">
              <a:buNone/>
            </a:pPr>
            <a:r>
              <a:rPr lang="en-US" sz="2800" b="1" dirty="0">
                <a:solidFill>
                  <a:srgbClr val="FFFFFF"/>
                </a:solidFill>
              </a:rPr>
              <a:t>The warning came. The impact intelligence did not</a:t>
            </a:r>
            <a:endParaRPr lang="en-US" sz="2800" dirty="0"/>
          </a:p>
        </p:txBody>
      </p:sp>
      <p:sp>
        <p:nvSpPr>
          <p:cNvPr id="3" name="stat kayalpattinam"/>
          <p:cNvSpPr/>
          <p:nvPr/>
        </p:nvSpPr>
        <p:spPr>
          <a:xfrm>
            <a:off x="457200" y="1188720"/>
            <a:ext cx="3977640" cy="3291840"/>
          </a:xfrm>
          <a:prstGeom prst="roundRect">
            <a:avLst>
              <a:gd name="adj" fmla="val 2222"/>
            </a:avLst>
          </a:prstGeom>
          <a:solidFill>
            <a:srgbClr val="1E293B"/>
          </a:solidFill>
          <a:ln w="12700">
            <a:solidFill>
              <a:srgbClr val="1E293B"/>
            </a:solidFill>
            <a:prstDash val="solid"/>
          </a:ln>
          <a:effectLst>
            <a:outerShdw sx="100000" sy="100000" kx="0" ky="0" algn="bl" rotWithShape="0" blurRad="101600" dist="25400" dir="5400000">
              <a:srgbClr val="0B1220">
                <a:alpha val="14000"/>
              </a:srgbClr>
            </a:outerShdw>
          </a:effectLst>
        </p:spPr>
      </p:sp>
      <p:sp>
        <p:nvSpPr>
          <p:cNvPr id="4" name="Text 2"/>
          <p:cNvSpPr txBox="1"/>
          <p:nvPr/>
        </p:nvSpPr>
        <p:spPr>
          <a:xfrm>
            <a:off x="731520" y="1371600"/>
            <a:ext cx="1828800" cy="822960"/>
          </a:xfrm>
          <a:prstGeom prst="rect">
            <a:avLst/>
          </a:prstGeom>
          <a:noFill/>
          <a:ln/>
        </p:spPr>
        <p:txBody>
          <a:bodyPr wrap="square" lIns="0" tIns="0" rIns="0" bIns="0" rtlCol="0" anchor="t"/>
          <a:lstStyle/>
          <a:p>
            <a:pPr indent="0" marL="0">
              <a:buNone/>
            </a:pPr>
            <a:r>
              <a:rPr lang="en-US" sz="5400" b="1" dirty="0">
                <a:solidFill>
                  <a:schemeClr val="accent6"/>
                </a:solidFill>
              </a:rPr>
              <a:t>20 cm</a:t>
            </a:r>
            <a:endParaRPr lang="en-US" sz="5400" dirty="0"/>
          </a:p>
        </p:txBody>
      </p:sp>
      <p:sp>
        <p:nvSpPr>
          <p:cNvPr id="5" name="Text 3"/>
          <p:cNvSpPr txBox="1"/>
          <p:nvPr/>
        </p:nvSpPr>
        <p:spPr>
          <a:xfrm>
            <a:off x="731520" y="2148840"/>
            <a:ext cx="1828800" cy="274320"/>
          </a:xfrm>
          <a:prstGeom prst="rect">
            <a:avLst/>
          </a:prstGeom>
          <a:noFill/>
          <a:ln/>
        </p:spPr>
        <p:txBody>
          <a:bodyPr wrap="square" lIns="0" tIns="0" rIns="0" bIns="0" rtlCol="0" anchor="t"/>
          <a:lstStyle/>
          <a:p>
            <a:pPr indent="0" marL="0">
              <a:buNone/>
            </a:pPr>
            <a:r>
              <a:rPr lang="en-US" sz="1300" dirty="0">
                <a:solidFill>
                  <a:schemeClr val="accent5"/>
                </a:solidFill>
              </a:rPr>
              <a:t>forecast</a:t>
            </a:r>
            <a:endParaRPr lang="en-US" sz="1300" dirty="0"/>
          </a:p>
        </p:txBody>
      </p:sp>
      <p:sp>
        <p:nvSpPr>
          <p:cNvPr id="6" name="Text 4"/>
          <p:cNvSpPr txBox="1"/>
          <p:nvPr/>
        </p:nvSpPr>
        <p:spPr>
          <a:xfrm>
            <a:off x="2514600" y="1371600"/>
            <a:ext cx="1828800" cy="822960"/>
          </a:xfrm>
          <a:prstGeom prst="rect">
            <a:avLst/>
          </a:prstGeom>
          <a:noFill/>
          <a:ln/>
        </p:spPr>
        <p:txBody>
          <a:bodyPr wrap="square" lIns="0" tIns="0" rIns="0" bIns="0" rtlCol="0" anchor="t"/>
          <a:lstStyle/>
          <a:p>
            <a:pPr indent="0" marL="0">
              <a:buNone/>
            </a:pPr>
            <a:r>
              <a:rPr lang="en-US" sz="5400" b="1" dirty="0">
                <a:solidFill>
                  <a:schemeClr val="accent3"/>
                </a:solidFill>
              </a:rPr>
              <a:t>95 cm</a:t>
            </a:r>
            <a:endParaRPr lang="en-US" sz="5400" dirty="0"/>
          </a:p>
        </p:txBody>
      </p:sp>
      <p:sp>
        <p:nvSpPr>
          <p:cNvPr id="7" name="Text 5"/>
          <p:cNvSpPr txBox="1"/>
          <p:nvPr/>
        </p:nvSpPr>
        <p:spPr>
          <a:xfrm>
            <a:off x="2514600" y="2148840"/>
            <a:ext cx="1828800" cy="274320"/>
          </a:xfrm>
          <a:prstGeom prst="rect">
            <a:avLst/>
          </a:prstGeom>
          <a:noFill/>
          <a:ln/>
        </p:spPr>
        <p:txBody>
          <a:bodyPr wrap="square" lIns="0" tIns="0" rIns="0" bIns="0" rtlCol="0" anchor="t"/>
          <a:lstStyle/>
          <a:p>
            <a:pPr indent="0" marL="0">
              <a:buNone/>
            </a:pPr>
            <a:r>
              <a:rPr lang="en-US" sz="1300" dirty="0">
                <a:solidFill>
                  <a:schemeClr val="accent5"/>
                </a:solidFill>
              </a:rPr>
              <a:t>fell in 24 hours</a:t>
            </a:r>
            <a:endParaRPr lang="en-US" sz="1300" dirty="0"/>
          </a:p>
        </p:txBody>
      </p:sp>
      <p:sp>
        <p:nvSpPr>
          <p:cNvPr id="8" name="Text 6"/>
          <p:cNvSpPr txBox="1"/>
          <p:nvPr/>
        </p:nvSpPr>
        <p:spPr>
          <a:xfrm>
            <a:off x="731520" y="2606040"/>
            <a:ext cx="3566160" cy="274320"/>
          </a:xfrm>
          <a:prstGeom prst="rect">
            <a:avLst/>
          </a:prstGeom>
          <a:noFill/>
          <a:ln/>
        </p:spPr>
        <p:txBody>
          <a:bodyPr wrap="square" lIns="0" tIns="0" rIns="0" bIns="0" rtlCol="0" anchor="t"/>
          <a:lstStyle/>
          <a:p>
            <a:pPr indent="0" marL="0">
              <a:buNone/>
            </a:pPr>
            <a:r>
              <a:rPr lang="en-US" sz="1300" b="1" dirty="0">
                <a:solidFill>
                  <a:schemeClr val="bg1"/>
                </a:solidFill>
              </a:rPr>
              <a:t>Kayalpattinam, Thoothukudi, 17 to 18 Dec 2023</a:t>
            </a:r>
            <a:endParaRPr lang="en-US" sz="1300" dirty="0"/>
          </a:p>
        </p:txBody>
      </p:sp>
      <p:sp>
        <p:nvSpPr>
          <p:cNvPr id="9" name="Text 7"/>
          <p:cNvSpPr txBox="1"/>
          <p:nvPr/>
        </p:nvSpPr>
        <p:spPr>
          <a:xfrm>
            <a:off x="731520" y="3017520"/>
            <a:ext cx="3566160" cy="13716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bg2"/>
                </a:solidFill>
              </a:rPr>
              <a:t>Red alert issued the morning after rain began</a:t>
            </a:r>
            <a:endParaRPr lang="en-US" sz="1300" dirty="0"/>
          </a:p>
          <a:p>
            <a:pPr marL="342900" indent="-342900">
              <a:spcAft>
                <a:spcPts val="600"/>
              </a:spcAft>
              <a:buSzPct val="100000"/>
              <a:buChar char="•"/>
            </a:pPr>
            <a:r>
              <a:rPr lang="en-US" sz="1300" dirty="0">
                <a:solidFill>
                  <a:schemeClr val="bg2"/>
                </a:solidFill>
              </a:rPr>
              <a:t>750 tank breaches across two districts</a:t>
            </a:r>
            <a:endParaRPr lang="en-US" sz="1300" dirty="0"/>
          </a:p>
          <a:p>
            <a:pPr marL="342900" indent="-342900">
              <a:spcAft>
                <a:spcPts val="600"/>
              </a:spcAft>
              <a:buSzPct val="100000"/>
              <a:buChar char="•"/>
            </a:pPr>
            <a:r>
              <a:rPr lang="en-US" sz="1300" dirty="0">
                <a:solidFill>
                  <a:schemeClr val="bg2"/>
                </a:solidFill>
              </a:rPr>
              <a:t>38 dead, 10,000 evacuated by boat and helicopter</a:t>
            </a:r>
            <a:endParaRPr lang="en-US" sz="1300" dirty="0"/>
          </a:p>
        </p:txBody>
      </p:sp>
      <p:sp>
        <p:nvSpPr>
          <p:cNvPr id="10" name="stat chembarambakkam"/>
          <p:cNvSpPr/>
          <p:nvPr/>
        </p:nvSpPr>
        <p:spPr>
          <a:xfrm>
            <a:off x="4709160" y="1188720"/>
            <a:ext cx="3977640" cy="3291840"/>
          </a:xfrm>
          <a:prstGeom prst="roundRect">
            <a:avLst>
              <a:gd name="adj" fmla="val 2222"/>
            </a:avLst>
          </a:prstGeom>
          <a:solidFill>
            <a:srgbClr val="1E293B"/>
          </a:solidFill>
          <a:ln w="12700">
            <a:solidFill>
              <a:srgbClr val="1E293B"/>
            </a:solidFill>
            <a:prstDash val="solid"/>
          </a:ln>
          <a:effectLst>
            <a:outerShdw sx="100000" sy="100000" kx="0" ky="0" algn="bl" rotWithShape="0" blurRad="101600" dist="25400" dir="5400000">
              <a:srgbClr val="0B1220">
                <a:alpha val="14000"/>
              </a:srgbClr>
            </a:outerShdw>
          </a:effectLst>
        </p:spPr>
      </p:sp>
      <p:sp>
        <p:nvSpPr>
          <p:cNvPr id="11" name="Text 9"/>
          <p:cNvSpPr txBox="1"/>
          <p:nvPr/>
        </p:nvSpPr>
        <p:spPr>
          <a:xfrm>
            <a:off x="4983480" y="1371600"/>
            <a:ext cx="2194560" cy="822960"/>
          </a:xfrm>
          <a:prstGeom prst="rect">
            <a:avLst/>
          </a:prstGeom>
          <a:noFill/>
          <a:ln/>
        </p:spPr>
        <p:txBody>
          <a:bodyPr wrap="square" lIns="0" tIns="0" rIns="0" bIns="0" rtlCol="0" anchor="t"/>
          <a:lstStyle/>
          <a:p>
            <a:pPr indent="0" marL="0">
              <a:buNone/>
            </a:pPr>
            <a:r>
              <a:rPr lang="en-US" sz="5400" b="1" dirty="0">
                <a:solidFill>
                  <a:schemeClr val="accent2"/>
                </a:solidFill>
              </a:rPr>
              <a:t>29,000</a:t>
            </a:r>
            <a:endParaRPr lang="en-US" sz="5400" dirty="0"/>
          </a:p>
        </p:txBody>
      </p:sp>
      <p:sp>
        <p:nvSpPr>
          <p:cNvPr id="12" name="Text 10"/>
          <p:cNvSpPr txBox="1"/>
          <p:nvPr/>
        </p:nvSpPr>
        <p:spPr>
          <a:xfrm>
            <a:off x="4983480" y="2148840"/>
            <a:ext cx="2194560" cy="274320"/>
          </a:xfrm>
          <a:prstGeom prst="rect">
            <a:avLst/>
          </a:prstGeom>
          <a:noFill/>
          <a:ln/>
        </p:spPr>
        <p:txBody>
          <a:bodyPr wrap="square" lIns="0" tIns="0" rIns="0" bIns="0" rtlCol="0" anchor="t"/>
          <a:lstStyle/>
          <a:p>
            <a:pPr indent="0" marL="0">
              <a:buNone/>
            </a:pPr>
            <a:r>
              <a:rPr lang="en-US" sz="1300" dirty="0">
                <a:solidFill>
                  <a:schemeClr val="accent5"/>
                </a:solidFill>
              </a:rPr>
              <a:t>cusecs for 21 hours</a:t>
            </a:r>
            <a:endParaRPr lang="en-US" sz="1300" dirty="0"/>
          </a:p>
        </p:txBody>
      </p:sp>
      <p:sp>
        <p:nvSpPr>
          <p:cNvPr id="13" name="Text 11"/>
          <p:cNvSpPr txBox="1"/>
          <p:nvPr/>
        </p:nvSpPr>
        <p:spPr>
          <a:xfrm>
            <a:off x="7269480" y="1371600"/>
            <a:ext cx="1188720" cy="822960"/>
          </a:xfrm>
          <a:prstGeom prst="rect">
            <a:avLst/>
          </a:prstGeom>
          <a:noFill/>
          <a:ln/>
        </p:spPr>
        <p:txBody>
          <a:bodyPr wrap="square" lIns="0" tIns="0" rIns="0" bIns="0" rtlCol="0" anchor="t"/>
          <a:lstStyle/>
          <a:p>
            <a:pPr indent="0" marL="0">
              <a:buNone/>
            </a:pPr>
            <a:r>
              <a:rPr lang="en-US" sz="5400" b="1" dirty="0">
                <a:solidFill>
                  <a:schemeClr val="accent3"/>
                </a:solidFill>
              </a:rPr>
              <a:t>0</a:t>
            </a:r>
            <a:endParaRPr lang="en-US" sz="5400" dirty="0"/>
          </a:p>
        </p:txBody>
      </p:sp>
      <p:sp>
        <p:nvSpPr>
          <p:cNvPr id="14" name="Text 12"/>
          <p:cNvSpPr txBox="1"/>
          <p:nvPr/>
        </p:nvSpPr>
        <p:spPr>
          <a:xfrm>
            <a:off x="7269480" y="2148840"/>
            <a:ext cx="1280160" cy="274320"/>
          </a:xfrm>
          <a:prstGeom prst="rect">
            <a:avLst/>
          </a:prstGeom>
          <a:noFill/>
          <a:ln/>
        </p:spPr>
        <p:txBody>
          <a:bodyPr wrap="square" lIns="0" tIns="0" rIns="0" bIns="0" rtlCol="0" anchor="t"/>
          <a:lstStyle/>
          <a:p>
            <a:pPr indent="0" marL="0">
              <a:buNone/>
            </a:pPr>
            <a:r>
              <a:rPr lang="en-US" sz="1300" dirty="0">
                <a:solidFill>
                  <a:schemeClr val="accent5"/>
                </a:solidFill>
              </a:rPr>
              <a:t>public warnings</a:t>
            </a:r>
            <a:endParaRPr lang="en-US" sz="1300" dirty="0"/>
          </a:p>
        </p:txBody>
      </p:sp>
      <p:sp>
        <p:nvSpPr>
          <p:cNvPr id="15" name="Text 13"/>
          <p:cNvSpPr txBox="1"/>
          <p:nvPr/>
        </p:nvSpPr>
        <p:spPr>
          <a:xfrm>
            <a:off x="4983480" y="2606040"/>
            <a:ext cx="3566160" cy="274320"/>
          </a:xfrm>
          <a:prstGeom prst="rect">
            <a:avLst/>
          </a:prstGeom>
          <a:noFill/>
          <a:ln/>
        </p:spPr>
        <p:txBody>
          <a:bodyPr wrap="square" lIns="0" tIns="0" rIns="0" bIns="0" rtlCol="0" anchor="t"/>
          <a:lstStyle/>
          <a:p>
            <a:pPr indent="0" marL="0">
              <a:buNone/>
            </a:pPr>
            <a:r>
              <a:rPr lang="en-US" sz="1300" b="1" dirty="0">
                <a:solidFill>
                  <a:schemeClr val="bg1"/>
                </a:solidFill>
              </a:rPr>
              <a:t>Chembarambakkam release, Chennai, 1 Dec 2015</a:t>
            </a:r>
            <a:endParaRPr lang="en-US" sz="1300" dirty="0"/>
          </a:p>
        </p:txBody>
      </p:sp>
      <p:sp>
        <p:nvSpPr>
          <p:cNvPr id="16" name="Text 14"/>
          <p:cNvSpPr txBox="1"/>
          <p:nvPr/>
        </p:nvSpPr>
        <p:spPr>
          <a:xfrm>
            <a:off x="4983480" y="3017520"/>
            <a:ext cx="3566160" cy="13716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bg2"/>
                </a:solidFill>
              </a:rPr>
              <a:t>CAG audit: a man-made disaster</a:t>
            </a:r>
            <a:endParaRPr lang="en-US" sz="1300" dirty="0"/>
          </a:p>
          <a:p>
            <a:pPr marL="342900" indent="-342900">
              <a:spcAft>
                <a:spcPts val="600"/>
              </a:spcAft>
              <a:buSzPct val="100000"/>
              <a:buChar char="•"/>
            </a:pPr>
            <a:r>
              <a:rPr lang="en-US" sz="1300" dirty="0">
                <a:solidFill>
                  <a:schemeClr val="bg2"/>
                </a:solidFill>
              </a:rPr>
              <a:t>No real-time flood forecasting at the reservoir</a:t>
            </a:r>
            <a:endParaRPr lang="en-US" sz="1300" dirty="0"/>
          </a:p>
          <a:p>
            <a:pPr marL="342900" indent="-342900">
              <a:spcAft>
                <a:spcPts val="600"/>
              </a:spcAft>
              <a:buSzPct val="100000"/>
              <a:buChar char="•"/>
            </a:pPr>
            <a:r>
              <a:rPr lang="en-US" sz="1300" dirty="0">
                <a:solidFill>
                  <a:schemeClr val="bg2"/>
                </a:solidFill>
              </a:rPr>
              <a:t>Operating rules unrevised for 23 years</a:t>
            </a:r>
            <a:endParaRPr lang="en-US" sz="1300" dirty="0"/>
          </a:p>
          <a:p>
            <a:pPr marL="342900" indent="-342900">
              <a:spcAft>
                <a:spcPts val="600"/>
              </a:spcAft>
              <a:buSzPct val="100000"/>
              <a:buChar char="•"/>
            </a:pPr>
            <a:r>
              <a:rPr lang="en-US" sz="1300" dirty="0">
                <a:solidFill>
                  <a:schemeClr val="bg2"/>
                </a:solidFill>
              </a:rPr>
              <a:t>23 lakh homes submerged</a:t>
            </a:r>
            <a:endParaRPr lang="en-US" sz="1300" dirty="0"/>
          </a:p>
        </p:txBody>
      </p:sp>
      <p:sp>
        <p:nvSpPr>
          <p:cNvPr id="17" name="Text 15"/>
          <p:cNvSpPr txBox="1"/>
          <p:nvPr/>
        </p:nvSpPr>
        <p:spPr>
          <a:xfrm>
            <a:off x="457200" y="4526280"/>
            <a:ext cx="8229600" cy="228600"/>
          </a:xfrm>
          <a:prstGeom prst="rect">
            <a:avLst/>
          </a:prstGeom>
          <a:noFill/>
          <a:ln/>
        </p:spPr>
        <p:txBody>
          <a:bodyPr wrap="square" lIns="0" tIns="0" rIns="0" bIns="0" rtlCol="0" anchor="t"/>
          <a:lstStyle/>
          <a:p>
            <a:pPr indent="0" marL="0">
              <a:buNone/>
            </a:pPr>
            <a:r>
              <a:rPr lang="en-US" sz="900" dirty="0">
                <a:solidFill>
                  <a:schemeClr val="accent5"/>
                </a:solidFill>
              </a:rPr>
              <a:t>Sources: IMD Chennai RMC, Tamil Nadu Chief Secretary briefing Dec 2023, CAG Report 4 of 2017</a:t>
            </a:r>
            <a:endParaRPr lang="en-US" sz="900" dirty="0"/>
          </a:p>
        </p:txBody>
      </p:sp>
      <p:sp>
        <p:nvSpPr>
          <p:cNvPr id="25" name="Slide Number Placeholder 0"/>
          <p:cNvSpPr>
            <a:spLocks noGrp="1"/>
          </p:cNvSpPr>
          <p:nvPr>
            <p:ph type="sldNum" sz="quarter" idx="4294967295"/>
          </p:nvPr>
        </p:nvSpPr>
        <p:spPr>
          <a:xfrm>
            <a:off x="832104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indent="0" marL="0">
              <a:buNone/>
            </a:pPr>
            <a:r>
              <a:rPr lang="en-US" sz="2800" b="1" dirty="0">
                <a:solidFill>
                  <a:srgbClr val="FFFFFF"/>
                </a:solidFill>
              </a:rPr>
              <a:t>Chennai, December 2015</a:t>
            </a:r>
            <a:endParaRPr lang="en-US" sz="2800" dirty="0"/>
          </a:p>
        </p:txBody>
      </p:sp>
      <p:pic>
        <p:nvPicPr>
          <p:cNvPr id="3" name="chennai aerial" descr="C:\Users\Piyush\AppData\Local\Temp\claude\C--Users-Piyush-OneDrive-Desktop-rainfall-predictor\7052997d-b1d5-47e8-85b7-36d79c80cb7b\scratchpad\shots\chennai2015_aerial.jpg">    </p:cNvPr>
          <p:cNvPicPr>
            <a:picLocks noChangeAspect="1"/>
          </p:cNvPicPr>
          <p:nvPr/>
        </p:nvPicPr>
        <p:blipFill>
          <a:blip r:embed="rId1"/>
          <a:srcRect l="0" r="0" t="0" b="0"/>
          <a:stretch/>
        </p:blipFill>
        <p:spPr>
          <a:xfrm>
            <a:off x="457200" y="1097280"/>
            <a:ext cx="4937760" cy="3291840"/>
          </a:xfrm>
          <a:prstGeom prst="rect">
            <a:avLst/>
          </a:prstGeom>
        </p:spPr>
      </p:pic>
      <p:pic>
        <p:nvPicPr>
          <p:cNvPr id="4" name="chennai rescue" descr="C:\Users\Piyush\AppData\Local\Temp\claude\C--Users-Piyush-OneDrive-Desktop-rainfall-predictor\7052997d-b1d5-47e8-85b7-36d79c80cb7b\scratchpad\shots\chennai2015_rescue.jpg">    </p:cNvPr>
          <p:cNvPicPr>
            <a:picLocks noChangeAspect="1"/>
          </p:cNvPicPr>
          <p:nvPr/>
        </p:nvPicPr>
        <p:blipFill>
          <a:blip r:embed="rId2"/>
          <a:srcRect l="0" r="0" t="0" b="0"/>
          <a:stretch/>
        </p:blipFill>
        <p:spPr>
          <a:xfrm>
            <a:off x="5577840" y="1097280"/>
            <a:ext cx="3108960" cy="1746504"/>
          </a:xfrm>
          <a:prstGeom prst="rect">
            <a:avLst/>
          </a:prstGeom>
        </p:spPr>
      </p:pic>
      <p:sp>
        <p:nvSpPr>
          <p:cNvPr id="5" name="chennai photo facts"/>
          <p:cNvSpPr/>
          <p:nvPr/>
        </p:nvSpPr>
        <p:spPr>
          <a:xfrm>
            <a:off x="5577840" y="2971800"/>
            <a:ext cx="3108960" cy="1417320"/>
          </a:xfrm>
          <a:prstGeom prst="roundRect">
            <a:avLst>
              <a:gd name="adj" fmla="val 5161"/>
            </a:avLst>
          </a:prstGeom>
          <a:solidFill>
            <a:srgbClr val="1E293B"/>
          </a:solidFill>
          <a:ln w="12700">
            <a:solidFill>
              <a:srgbClr val="1E293B"/>
            </a:solidFill>
            <a:prstDash val="solid"/>
          </a:ln>
          <a:effectLst>
            <a:outerShdw sx="100000" sy="100000" kx="0" ky="0" algn="bl" rotWithShape="0" blurRad="101600" dist="25400" dir="5400000">
              <a:srgbClr val="0B1220">
                <a:alpha val="14000"/>
              </a:srgbClr>
            </a:outerShdw>
          </a:effectLst>
        </p:spPr>
      </p:sp>
      <p:sp>
        <p:nvSpPr>
          <p:cNvPr id="6" name="Text 2"/>
          <p:cNvSpPr txBox="1"/>
          <p:nvPr/>
        </p:nvSpPr>
        <p:spPr>
          <a:xfrm>
            <a:off x="5760720" y="3108960"/>
            <a:ext cx="2788920" cy="123444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chemeClr val="bg2"/>
                </a:solidFill>
              </a:rPr>
              <a:t>Adyar in spate after the Chembarambakkam release</a:t>
            </a:r>
            <a:endParaRPr lang="en-US" sz="1150" dirty="0"/>
          </a:p>
          <a:p>
            <a:pPr marL="342900" indent="-342900">
              <a:spcAft>
                <a:spcPts val="600"/>
              </a:spcAft>
              <a:buSzPct val="100000"/>
              <a:buChar char="•"/>
            </a:pPr>
            <a:r>
              <a:rPr lang="en-US" sz="1150" dirty="0">
                <a:solidFill>
                  <a:schemeClr val="bg2"/>
                </a:solidFill>
              </a:rPr>
              <a:t>23 lakh homes submerged, 470 dead by the state count</a:t>
            </a:r>
            <a:endParaRPr lang="en-US" sz="1150" dirty="0"/>
          </a:p>
          <a:p>
            <a:pPr marL="342900" indent="-342900">
              <a:spcAft>
                <a:spcPts val="600"/>
              </a:spcAft>
              <a:buSzPct val="100000"/>
              <a:buChar char="•"/>
            </a:pPr>
            <a:r>
              <a:rPr lang="en-US" sz="1150" dirty="0">
                <a:solidFill>
                  <a:schemeClr val="bg2"/>
                </a:solidFill>
              </a:rPr>
              <a:t>Airport closed, power cut citywide for days</a:t>
            </a:r>
            <a:endParaRPr lang="en-US" sz="1150" dirty="0"/>
          </a:p>
        </p:txBody>
      </p:sp>
      <p:sp>
        <p:nvSpPr>
          <p:cNvPr id="7" name="Text 3"/>
          <p:cNvSpPr txBox="1"/>
          <p:nvPr/>
        </p:nvSpPr>
        <p:spPr>
          <a:xfrm>
            <a:off x="457200" y="4434840"/>
            <a:ext cx="8229600" cy="320040"/>
          </a:xfrm>
          <a:prstGeom prst="rect">
            <a:avLst/>
          </a:prstGeom>
          <a:noFill/>
          <a:ln/>
        </p:spPr>
        <p:txBody>
          <a:bodyPr wrap="square" lIns="0" tIns="0" rIns="0" bIns="0" rtlCol="0" anchor="t"/>
          <a:lstStyle/>
          <a:p>
            <a:pPr indent="0" marL="0">
              <a:buNone/>
            </a:pPr>
            <a:r>
              <a:rPr lang="en-US" sz="900" dirty="0">
                <a:solidFill>
                  <a:schemeClr val="accent5"/>
                </a:solidFill>
              </a:rPr>
              <a:t>Photos: Indian Air Force aerial survey, 2 December 2015, and Indian Army relief, 17 November 2015. Government Open Data License India, via Wikimedia Commons.</a:t>
            </a:r>
            <a:endParaRPr lang="en-US" sz="900" dirty="0"/>
          </a:p>
        </p:txBody>
      </p:sp>
      <p:sp>
        <p:nvSpPr>
          <p:cNvPr id="25" name="Slide Number Placeholder 0"/>
          <p:cNvSpPr>
            <a:spLocks noGrp="1"/>
          </p:cNvSpPr>
          <p:nvPr>
            <p:ph type="sldNum" sz="quarter" idx="4294967295"/>
          </p:nvPr>
        </p:nvSpPr>
        <p:spPr>
          <a:xfrm>
            <a:off x="832104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indent="0" marL="0">
              <a:buNone/>
            </a:pPr>
            <a:r>
              <a:rPr lang="en-US" sz="2800" b="1" dirty="0">
                <a:solidFill>
                  <a:srgbClr val="FFFFFF"/>
                </a:solidFill>
              </a:rPr>
              <a:t>Bihar 2026: flooded in a 35 percent rain deficit</a:t>
            </a:r>
            <a:endParaRPr lang="en-US" sz="2800" dirty="0"/>
          </a:p>
        </p:txBody>
      </p:sp>
      <p:pic>
        <p:nvPicPr>
          <p:cNvPr id="3" name="bihar rooftops" descr="C:\Users\Piyush\AppData\Local\Temp\claude\C--Users-Piyush-OneDrive-Desktop-rainfall-predictor\7052997d-b1d5-47e8-85b7-36d79c80cb7b\scratchpad\shots\bihar_rooftops.jpg">    </p:cNvPr>
          <p:cNvPicPr>
            <a:picLocks noChangeAspect="1"/>
          </p:cNvPicPr>
          <p:nvPr/>
        </p:nvPicPr>
        <p:blipFill>
          <a:blip r:embed="rId1"/>
          <a:srcRect l="0" r="0" t="0" b="0"/>
          <a:stretch/>
        </p:blipFill>
        <p:spPr>
          <a:xfrm>
            <a:off x="457200" y="1097280"/>
            <a:ext cx="4480560" cy="2990088"/>
          </a:xfrm>
          <a:prstGeom prst="rect">
            <a:avLst/>
          </a:prstGeom>
        </p:spPr>
      </p:pic>
      <p:sp>
        <p:nvSpPr>
          <p:cNvPr id="4" name="bihar facts"/>
          <p:cNvSpPr/>
          <p:nvPr/>
        </p:nvSpPr>
        <p:spPr>
          <a:xfrm>
            <a:off x="5120640" y="1097280"/>
            <a:ext cx="3566160" cy="3291840"/>
          </a:xfrm>
          <a:prstGeom prst="roundRect">
            <a:avLst>
              <a:gd name="adj" fmla="val 2222"/>
            </a:avLst>
          </a:prstGeom>
          <a:solidFill>
            <a:srgbClr val="1E293B"/>
          </a:solidFill>
          <a:ln w="12700">
            <a:solidFill>
              <a:srgbClr val="1E293B"/>
            </a:solidFill>
            <a:prstDash val="solid"/>
          </a:ln>
          <a:effectLst>
            <a:outerShdw sx="100000" sy="100000" kx="0" ky="0" algn="bl" rotWithShape="0" blurRad="101600" dist="25400" dir="5400000">
              <a:srgbClr val="0B1220">
                <a:alpha val="14000"/>
              </a:srgbClr>
            </a:outerShdw>
          </a:effectLst>
        </p:spPr>
      </p:sp>
      <p:sp>
        <p:nvSpPr>
          <p:cNvPr id="5" name="Text 2"/>
          <p:cNvSpPr txBox="1"/>
          <p:nvPr/>
        </p:nvSpPr>
        <p:spPr>
          <a:xfrm>
            <a:off x="5303520" y="1234440"/>
            <a:ext cx="3200400" cy="274320"/>
          </a:xfrm>
          <a:prstGeom prst="rect">
            <a:avLst/>
          </a:prstGeom>
          <a:noFill/>
          <a:ln/>
        </p:spPr>
        <p:txBody>
          <a:bodyPr wrap="square" lIns="0" tIns="0" rIns="0" bIns="0" rtlCol="0" anchor="t"/>
          <a:lstStyle/>
          <a:p>
            <a:pPr indent="0" marL="0">
              <a:buNone/>
            </a:pPr>
            <a:r>
              <a:rPr lang="en-US" sz="1400" b="1" dirty="0">
                <a:solidFill>
                  <a:schemeClr val="bg1"/>
                </a:solidFill>
              </a:rPr>
              <a:t>What happened</a:t>
            </a:r>
            <a:endParaRPr lang="en-US" sz="1400" dirty="0"/>
          </a:p>
        </p:txBody>
      </p:sp>
      <p:sp>
        <p:nvSpPr>
          <p:cNvPr id="6" name="Text 3"/>
          <p:cNvSpPr txBox="1"/>
          <p:nvPr/>
        </p:nvSpPr>
        <p:spPr>
          <a:xfrm>
            <a:off x="5303520" y="1554480"/>
            <a:ext cx="3200400" cy="169164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chemeClr val="bg2"/>
                </a:solidFill>
              </a:rPr>
              <a:t>Ganga above its all-time high at Patna and Bhagalpur, 6 to 8 September</a:t>
            </a:r>
            <a:endParaRPr lang="en-US" sz="1100" dirty="0"/>
          </a:p>
          <a:p>
            <a:pPr marL="342900" indent="-342900">
              <a:spcAft>
                <a:spcPts val="600"/>
              </a:spcAft>
              <a:buSzPct val="100000"/>
              <a:buChar char="•"/>
            </a:pPr>
            <a:r>
              <a:rPr lang="en-US" sz="1100" dirty="0">
                <a:solidFill>
                  <a:schemeClr val="bg2"/>
                </a:solidFill>
              </a:rPr>
              <a:t>Nepal inflow above 5 lakh cusecs, Gandak record at Bagaha, 1 October</a:t>
            </a:r>
            <a:endParaRPr lang="en-US" sz="1100" dirty="0"/>
          </a:p>
          <a:p>
            <a:pPr marL="342900" indent="-342900">
              <a:spcAft>
                <a:spcPts val="600"/>
              </a:spcAft>
              <a:buSzPct val="100000"/>
              <a:buChar char="•"/>
            </a:pPr>
            <a:r>
              <a:rPr lang="en-US" sz="1100" dirty="0">
                <a:solidFill>
                  <a:schemeClr val="bg2"/>
                </a:solidFill>
              </a:rPr>
              <a:t>Six embankment breaches in ten hours, 200 villages flooded</a:t>
            </a:r>
            <a:endParaRPr lang="en-US" sz="1100" dirty="0"/>
          </a:p>
          <a:p>
            <a:pPr marL="342900" indent="-342900">
              <a:spcAft>
                <a:spcPts val="600"/>
              </a:spcAft>
              <a:buSzPct val="100000"/>
              <a:buChar char="•"/>
            </a:pPr>
            <a:r>
              <a:rPr lang="en-US" sz="1100" dirty="0">
                <a:solidFill>
                  <a:schemeClr val="bg2"/>
                </a:solidFill>
              </a:rPr>
              <a:t>About 50 lakh people across 15 districts, no official crop or cattle count</a:t>
            </a:r>
            <a:endParaRPr lang="en-US" sz="1100" dirty="0"/>
          </a:p>
        </p:txBody>
      </p:sp>
      <p:sp>
        <p:nvSpPr>
          <p:cNvPr id="7" name="Text 4"/>
          <p:cNvSpPr txBox="1"/>
          <p:nvPr/>
        </p:nvSpPr>
        <p:spPr>
          <a:xfrm>
            <a:off x="5303520" y="3310128"/>
            <a:ext cx="3200400" cy="274320"/>
          </a:xfrm>
          <a:prstGeom prst="rect">
            <a:avLst/>
          </a:prstGeom>
          <a:noFill/>
          <a:ln/>
        </p:spPr>
        <p:txBody>
          <a:bodyPr wrap="square" lIns="0" tIns="0" rIns="0" bIns="0" rtlCol="0" anchor="t"/>
          <a:lstStyle/>
          <a:p>
            <a:pPr indent="0" marL="0">
              <a:buNone/>
            </a:pPr>
            <a:r>
              <a:rPr lang="en-US" sz="1400" b="1" dirty="0">
                <a:solidFill>
                  <a:schemeClr val="bg1"/>
                </a:solidFill>
              </a:rPr>
              <a:t>What it proves</a:t>
            </a:r>
            <a:endParaRPr lang="en-US" sz="1400" dirty="0"/>
          </a:p>
        </p:txBody>
      </p:sp>
      <p:sp>
        <p:nvSpPr>
          <p:cNvPr id="8" name="Text 5"/>
          <p:cNvSpPr txBox="1"/>
          <p:nvPr/>
        </p:nvSpPr>
        <p:spPr>
          <a:xfrm>
            <a:off x="5303520" y="3602736"/>
            <a:ext cx="3200400" cy="777240"/>
          </a:xfrm>
          <a:prstGeom prst="rect">
            <a:avLst/>
          </a:prstGeom>
          <a:noFill/>
          <a:ln/>
        </p:spPr>
        <p:txBody>
          <a:bodyPr wrap="square" lIns="0" tIns="0" rIns="0" bIns="0" rtlCol="0" anchor="t"/>
          <a:lstStyle/>
          <a:p>
            <a:pPr indent="0" marL="0">
              <a:buNone/>
            </a:pPr>
            <a:r>
              <a:rPr lang="en-US" sz="1100" dirty="0">
                <a:solidFill>
                  <a:schemeClr val="bg2"/>
                </a:solidFill>
              </a:rPr>
              <a:t>The rain fell in Nepal and Uttar Pradesh. The flood arrived through saturated soils, barrages and failed embankments. Rainfall at the point is not the hazard.</a:t>
            </a:r>
            <a:endParaRPr lang="en-US" sz="1100" dirty="0"/>
          </a:p>
        </p:txBody>
      </p:sp>
      <p:sp>
        <p:nvSpPr>
          <p:cNvPr id="9" name="Text 6"/>
          <p:cNvSpPr txBox="1"/>
          <p:nvPr/>
        </p:nvSpPr>
        <p:spPr>
          <a:xfrm>
            <a:off x="457200" y="4160520"/>
            <a:ext cx="4480560" cy="502920"/>
          </a:xfrm>
          <a:prstGeom prst="rect">
            <a:avLst/>
          </a:prstGeom>
          <a:noFill/>
          <a:ln/>
        </p:spPr>
        <p:txBody>
          <a:bodyPr wrap="square" lIns="0" tIns="0" rIns="0" bIns="0" rtlCol="0" anchor="t"/>
          <a:lstStyle/>
          <a:p>
            <a:pPr indent="0" marL="0">
              <a:buNone/>
            </a:pPr>
            <a:r>
              <a:rPr lang="en-US" sz="900" dirty="0">
                <a:solidFill>
                  <a:schemeClr val="accent5"/>
                </a:solidFill>
              </a:rPr>
              <a:t>Photo: Kosi flood, Bihar, Indian Air Force aerial survey, September 2008, Government Open Data License India via Wikimedia Commons. No openly licensed 2026 photographs were available.</a:t>
            </a:r>
            <a:endParaRPr lang="en-US" sz="900" dirty="0"/>
          </a:p>
        </p:txBody>
      </p:sp>
      <p:sp>
        <p:nvSpPr>
          <p:cNvPr id="25" name="Slide Number Placeholder 0"/>
          <p:cNvSpPr>
            <a:spLocks noGrp="1"/>
          </p:cNvSpPr>
          <p:nvPr>
            <p:ph type="sldNum" sz="quarter" idx="4294967295"/>
          </p:nvPr>
        </p:nvSpPr>
        <p:spPr>
          <a:xfrm>
            <a:off x="832104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indent="0" marL="0">
              <a:buNone/>
            </a:pPr>
            <a:r>
              <a:rPr lang="en-US" sz="2800" b="1" dirty="0">
                <a:solidFill>
                  <a:srgbClr val="0B1220"/>
                </a:solidFill>
              </a:rPr>
              <a:t>Who pays when rain becomes impact</a:t>
            </a:r>
            <a:endParaRPr lang="en-US" sz="2800" dirty="0"/>
          </a:p>
        </p:txBody>
      </p:sp>
      <p:sp>
        <p:nvSpPr>
          <p:cNvPr id="3" name="card Households"/>
          <p:cNvSpPr/>
          <p:nvPr/>
        </p:nvSpPr>
        <p:spPr>
          <a:xfrm>
            <a:off x="457200" y="1143000"/>
            <a:ext cx="4023360" cy="1600200"/>
          </a:xfrm>
          <a:prstGeom prst="roundRect">
            <a:avLst>
              <a:gd name="adj" fmla="val 4571"/>
            </a:avLst>
          </a:prstGeom>
          <a:solidFill>
            <a:schemeClr val="bg1"/>
          </a:solidFill>
          <a:ln w="12700">
            <a:solidFill>
              <a:schemeClr val="bg1"/>
            </a:solidFill>
            <a:prstDash val="solid"/>
          </a:ln>
          <a:effectLst>
            <a:outerShdw sx="100000" sy="100000" kx="0" ky="0" algn="bl" rotWithShape="0" blurRad="101600" dist="25400" dir="5400000">
              <a:srgbClr val="0B1220">
                <a:alpha val="14000"/>
              </a:srgbClr>
            </a:outerShdw>
          </a:effectLst>
        </p:spPr>
      </p:sp>
      <p:sp>
        <p:nvSpPr>
          <p:cNvPr id="4" name="Text 2"/>
          <p:cNvSpPr txBox="1"/>
          <p:nvPr/>
        </p:nvSpPr>
        <p:spPr>
          <a:xfrm>
            <a:off x="685800" y="1325880"/>
            <a:ext cx="3566160" cy="365760"/>
          </a:xfrm>
          <a:prstGeom prst="rect">
            <a:avLst/>
          </a:prstGeom>
          <a:noFill/>
          <a:ln/>
        </p:spPr>
        <p:txBody>
          <a:bodyPr wrap="square" lIns="0" tIns="0" rIns="0" bIns="0" rtlCol="0" anchor="t"/>
          <a:lstStyle/>
          <a:p>
            <a:pPr indent="0" marL="0">
              <a:buNone/>
            </a:pPr>
            <a:r>
              <a:rPr lang="en-US" sz="1800" b="1" dirty="0">
                <a:solidFill>
                  <a:schemeClr val="tx1"/>
                </a:solidFill>
              </a:rPr>
              <a:t>Households</a:t>
            </a:r>
            <a:endParaRPr lang="en-US" sz="1800" dirty="0"/>
          </a:p>
        </p:txBody>
      </p:sp>
      <p:sp>
        <p:nvSpPr>
          <p:cNvPr id="5" name="Text 3"/>
          <p:cNvSpPr txBox="1"/>
          <p:nvPr/>
        </p:nvSpPr>
        <p:spPr>
          <a:xfrm>
            <a:off x="685800" y="1709928"/>
            <a:ext cx="3566160" cy="960120"/>
          </a:xfrm>
          <a:prstGeom prst="rect">
            <a:avLst/>
          </a:prstGeom>
          <a:noFill/>
          <a:ln/>
        </p:spPr>
        <p:txBody>
          <a:bodyPr wrap="square" lIns="0" tIns="0" rIns="0" bIns="0" rtlCol="0" anchor="t"/>
          <a:lstStyle/>
          <a:p>
            <a:pPr indent="0" marL="0">
              <a:buNone/>
            </a:pPr>
            <a:r>
              <a:rPr lang="en-US" sz="1250" dirty="0">
                <a:solidFill>
                  <a:schemeClr val="tx2"/>
                </a:solidFill>
              </a:rPr>
              <a:t>23 lakh homes went under in Chennai 2015. The hilltop ward and the reclaimed marsh received the same alert.</a:t>
            </a:r>
            <a:endParaRPr lang="en-US" sz="1250" dirty="0"/>
          </a:p>
        </p:txBody>
      </p:sp>
      <p:sp>
        <p:nvSpPr>
          <p:cNvPr id="6" name="card Commuters"/>
          <p:cNvSpPr/>
          <p:nvPr/>
        </p:nvSpPr>
        <p:spPr>
          <a:xfrm>
            <a:off x="4663440" y="1143000"/>
            <a:ext cx="4023360" cy="1600200"/>
          </a:xfrm>
          <a:prstGeom prst="roundRect">
            <a:avLst>
              <a:gd name="adj" fmla="val 4571"/>
            </a:avLst>
          </a:prstGeom>
          <a:solidFill>
            <a:schemeClr val="bg1"/>
          </a:solidFill>
          <a:ln w="12700">
            <a:solidFill>
              <a:schemeClr val="bg1"/>
            </a:solidFill>
            <a:prstDash val="solid"/>
          </a:ln>
          <a:effectLst>
            <a:outerShdw sx="100000" sy="100000" kx="0" ky="0" algn="bl" rotWithShape="0" blurRad="101600" dist="25400" dir="5400000">
              <a:srgbClr val="0B1220">
                <a:alpha val="14000"/>
              </a:srgbClr>
            </a:outerShdw>
          </a:effectLst>
        </p:spPr>
      </p:sp>
      <p:sp>
        <p:nvSpPr>
          <p:cNvPr id="7" name="Text 5"/>
          <p:cNvSpPr txBox="1"/>
          <p:nvPr/>
        </p:nvSpPr>
        <p:spPr>
          <a:xfrm>
            <a:off x="4892040" y="1325880"/>
            <a:ext cx="3566160" cy="365760"/>
          </a:xfrm>
          <a:prstGeom prst="rect">
            <a:avLst/>
          </a:prstGeom>
          <a:noFill/>
          <a:ln/>
        </p:spPr>
        <p:txBody>
          <a:bodyPr wrap="square" lIns="0" tIns="0" rIns="0" bIns="0" rtlCol="0" anchor="t"/>
          <a:lstStyle/>
          <a:p>
            <a:pPr indent="0" marL="0">
              <a:buNone/>
            </a:pPr>
            <a:r>
              <a:rPr lang="en-US" sz="1800" b="1" dirty="0">
                <a:solidFill>
                  <a:schemeClr val="tx1"/>
                </a:solidFill>
              </a:rPr>
              <a:t>Commuters</a:t>
            </a:r>
            <a:endParaRPr lang="en-US" sz="1800" dirty="0"/>
          </a:p>
        </p:txBody>
      </p:sp>
      <p:sp>
        <p:nvSpPr>
          <p:cNvPr id="8" name="Text 6"/>
          <p:cNvSpPr txBox="1"/>
          <p:nvPr/>
        </p:nvSpPr>
        <p:spPr>
          <a:xfrm>
            <a:off x="4892040" y="1709928"/>
            <a:ext cx="3566160" cy="960120"/>
          </a:xfrm>
          <a:prstGeom prst="rect">
            <a:avLst/>
          </a:prstGeom>
          <a:noFill/>
          <a:ln/>
        </p:spPr>
        <p:txBody>
          <a:bodyPr wrap="square" lIns="0" tIns="0" rIns="0" bIns="0" rtlCol="0" anchor="t"/>
          <a:lstStyle/>
          <a:p>
            <a:pPr indent="0" marL="0">
              <a:buNone/>
            </a:pPr>
            <a:r>
              <a:rPr lang="en-US" sz="1250" dirty="0">
                <a:solidFill>
                  <a:schemeClr val="tx2"/>
                </a:solidFill>
              </a:rPr>
              <a:t>Drownings in flooded underpasses in Bengaluru, Faridabad, Delhi and Salem. One flooded afternoon on Bengaluru's Outer Ring Road cost Rs 225 crore.</a:t>
            </a:r>
            <a:endParaRPr lang="en-US" sz="1250" dirty="0"/>
          </a:p>
        </p:txBody>
      </p:sp>
      <p:sp>
        <p:nvSpPr>
          <p:cNvPr id="9" name="card Farmers"/>
          <p:cNvSpPr/>
          <p:nvPr/>
        </p:nvSpPr>
        <p:spPr>
          <a:xfrm>
            <a:off x="457200" y="2926080"/>
            <a:ext cx="4023360" cy="1600200"/>
          </a:xfrm>
          <a:prstGeom prst="roundRect">
            <a:avLst>
              <a:gd name="adj" fmla="val 4571"/>
            </a:avLst>
          </a:prstGeom>
          <a:solidFill>
            <a:schemeClr val="bg1"/>
          </a:solidFill>
          <a:ln w="12700">
            <a:solidFill>
              <a:schemeClr val="bg1"/>
            </a:solidFill>
            <a:prstDash val="solid"/>
          </a:ln>
          <a:effectLst>
            <a:outerShdw sx="100000" sy="100000" kx="0" ky="0" algn="bl" rotWithShape="0" blurRad="101600" dist="25400" dir="5400000">
              <a:srgbClr val="0B1220">
                <a:alpha val="14000"/>
              </a:srgbClr>
            </a:outerShdw>
          </a:effectLst>
        </p:spPr>
      </p:sp>
      <p:sp>
        <p:nvSpPr>
          <p:cNvPr id="10" name="Text 8"/>
          <p:cNvSpPr txBox="1"/>
          <p:nvPr/>
        </p:nvSpPr>
        <p:spPr>
          <a:xfrm>
            <a:off x="685800" y="3108960"/>
            <a:ext cx="3566160" cy="365760"/>
          </a:xfrm>
          <a:prstGeom prst="rect">
            <a:avLst/>
          </a:prstGeom>
          <a:noFill/>
          <a:ln/>
        </p:spPr>
        <p:txBody>
          <a:bodyPr wrap="square" lIns="0" tIns="0" rIns="0" bIns="0" rtlCol="0" anchor="t"/>
          <a:lstStyle/>
          <a:p>
            <a:pPr indent="0" marL="0">
              <a:buNone/>
            </a:pPr>
            <a:r>
              <a:rPr lang="en-US" sz="1800" b="1" dirty="0">
                <a:solidFill>
                  <a:schemeClr val="tx1"/>
                </a:solidFill>
              </a:rPr>
              <a:t>Farmers</a:t>
            </a:r>
            <a:endParaRPr lang="en-US" sz="1800" dirty="0"/>
          </a:p>
        </p:txBody>
      </p:sp>
      <p:sp>
        <p:nvSpPr>
          <p:cNvPr id="11" name="Text 9"/>
          <p:cNvSpPr txBox="1"/>
          <p:nvPr/>
        </p:nvSpPr>
        <p:spPr>
          <a:xfrm>
            <a:off x="685800" y="3493008"/>
            <a:ext cx="3566160" cy="960120"/>
          </a:xfrm>
          <a:prstGeom prst="rect">
            <a:avLst/>
          </a:prstGeom>
          <a:noFill/>
          <a:ln/>
        </p:spPr>
        <p:txBody>
          <a:bodyPr wrap="square" lIns="0" tIns="0" rIns="0" bIns="0" rtlCol="0" anchor="t"/>
          <a:lstStyle/>
          <a:p>
            <a:pPr indent="0" marL="0">
              <a:buNone/>
            </a:pPr>
            <a:r>
              <a:rPr lang="en-US" sz="1250" dirty="0">
                <a:solidFill>
                  <a:schemeClr val="tx2"/>
                </a:solidFill>
              </a:rPr>
              <a:t>Cyclone Fengal put 1.29 lakh hectares of standing crop under water in three districts. Relief came months later with no record of the rain on that field.</a:t>
            </a:r>
            <a:endParaRPr lang="en-US" sz="1250" dirty="0"/>
          </a:p>
        </p:txBody>
      </p:sp>
      <p:sp>
        <p:nvSpPr>
          <p:cNvPr id="12" name="card Operators"/>
          <p:cNvSpPr/>
          <p:nvPr/>
        </p:nvSpPr>
        <p:spPr>
          <a:xfrm>
            <a:off x="4663440" y="2926080"/>
            <a:ext cx="4023360" cy="1600200"/>
          </a:xfrm>
          <a:prstGeom prst="roundRect">
            <a:avLst>
              <a:gd name="adj" fmla="val 4571"/>
            </a:avLst>
          </a:prstGeom>
          <a:solidFill>
            <a:schemeClr val="bg1"/>
          </a:solidFill>
          <a:ln w="12700">
            <a:solidFill>
              <a:schemeClr val="bg1"/>
            </a:solidFill>
            <a:prstDash val="solid"/>
          </a:ln>
          <a:effectLst>
            <a:outerShdw sx="100000" sy="100000" kx="0" ky="0" algn="bl" rotWithShape="0" blurRad="101600" dist="25400" dir="5400000">
              <a:srgbClr val="0B1220">
                <a:alpha val="14000"/>
              </a:srgbClr>
            </a:outerShdw>
          </a:effectLst>
        </p:spPr>
      </p:sp>
      <p:sp>
        <p:nvSpPr>
          <p:cNvPr id="13" name="Text 11"/>
          <p:cNvSpPr txBox="1"/>
          <p:nvPr/>
        </p:nvSpPr>
        <p:spPr>
          <a:xfrm>
            <a:off x="4892040" y="3108960"/>
            <a:ext cx="3566160" cy="365760"/>
          </a:xfrm>
          <a:prstGeom prst="rect">
            <a:avLst/>
          </a:prstGeom>
          <a:noFill/>
          <a:ln/>
        </p:spPr>
        <p:txBody>
          <a:bodyPr wrap="square" lIns="0" tIns="0" rIns="0" bIns="0" rtlCol="0" anchor="t"/>
          <a:lstStyle/>
          <a:p>
            <a:pPr indent="0" marL="0">
              <a:buNone/>
            </a:pPr>
            <a:r>
              <a:rPr lang="en-US" sz="1800" b="1" dirty="0">
                <a:solidFill>
                  <a:schemeClr val="tx1"/>
                </a:solidFill>
              </a:rPr>
              <a:t>Operators</a:t>
            </a:r>
            <a:endParaRPr lang="en-US" sz="1800" dirty="0"/>
          </a:p>
        </p:txBody>
      </p:sp>
      <p:sp>
        <p:nvSpPr>
          <p:cNvPr id="14" name="Text 12"/>
          <p:cNvSpPr txBox="1"/>
          <p:nvPr/>
        </p:nvSpPr>
        <p:spPr>
          <a:xfrm>
            <a:off x="4892040" y="3493008"/>
            <a:ext cx="3566160" cy="960120"/>
          </a:xfrm>
          <a:prstGeom prst="rect">
            <a:avLst/>
          </a:prstGeom>
          <a:noFill/>
          <a:ln/>
        </p:spPr>
        <p:txBody>
          <a:bodyPr wrap="square" lIns="0" tIns="0" rIns="0" bIns="0" rtlCol="0" anchor="t"/>
          <a:lstStyle/>
          <a:p>
            <a:pPr indent="0" marL="0">
              <a:buNone/>
            </a:pPr>
            <a:r>
              <a:rPr lang="en-US" sz="1250" dirty="0">
                <a:solidFill>
                  <a:schemeClr val="tx2"/>
                </a:solidFill>
              </a:rPr>
              <a:t>Chennai's drains are built for 2 to 5 cm an hour. Michaung delivered 25 cm in a day. Pallikaranai marsh, the city's sponge, is 90 percent gone.</a:t>
            </a:r>
            <a:endParaRPr lang="en-US" sz="1250" dirty="0"/>
          </a:p>
        </p:txBody>
      </p:sp>
      <p:sp>
        <p:nvSpPr>
          <p:cNvPr id="25" name="Slide Number Placeholder 0"/>
          <p:cNvSpPr>
            <a:spLocks noGrp="1"/>
          </p:cNvSpPr>
          <p:nvPr>
            <p:ph type="sldNum" sz="quarter" idx="4294967295"/>
          </p:nvPr>
        </p:nvSpPr>
        <p:spPr>
          <a:xfrm>
            <a:off x="832104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indent="0" marL="0">
              <a:buNone/>
            </a:pPr>
            <a:r>
              <a:rPr lang="en-US" sz="2800" b="1" dirty="0">
                <a:solidFill>
                  <a:srgbClr val="0B1220"/>
                </a:solidFill>
              </a:rPr>
              <a:t>The gap is resolution, not forecasting</a:t>
            </a:r>
            <a:endParaRPr lang="en-US" sz="2800" dirty="0"/>
          </a:p>
        </p:txBody>
      </p:sp>
      <p:sp>
        <p:nvSpPr>
          <p:cNvPr id="3" name="col today"/>
          <p:cNvSpPr/>
          <p:nvPr/>
        </p:nvSpPr>
        <p:spPr>
          <a:xfrm>
            <a:off x="457200" y="1143000"/>
            <a:ext cx="4023360" cy="3429000"/>
          </a:xfrm>
          <a:prstGeom prst="roundRect">
            <a:avLst>
              <a:gd name="adj" fmla="val 2133"/>
            </a:avLst>
          </a:prstGeom>
          <a:solidFill>
            <a:schemeClr val="bg1"/>
          </a:solidFill>
          <a:ln w="12700">
            <a:solidFill>
              <a:schemeClr val="bg1"/>
            </a:solidFill>
            <a:prstDash val="solid"/>
          </a:ln>
          <a:effectLst>
            <a:outerShdw sx="100000" sy="100000" kx="0" ky="0" algn="bl" rotWithShape="0" blurRad="101600" dist="25400" dir="5400000">
              <a:srgbClr val="0B1220">
                <a:alpha val="14000"/>
              </a:srgbClr>
            </a:outerShdw>
          </a:effectLst>
        </p:spPr>
      </p:sp>
      <p:sp>
        <p:nvSpPr>
          <p:cNvPr id="4" name="col needed"/>
          <p:cNvSpPr/>
          <p:nvPr/>
        </p:nvSpPr>
        <p:spPr>
          <a:xfrm>
            <a:off x="4663440" y="1143000"/>
            <a:ext cx="4023360" cy="3429000"/>
          </a:xfrm>
          <a:prstGeom prst="roundRect">
            <a:avLst>
              <a:gd name="adj" fmla="val 2133"/>
            </a:avLst>
          </a:prstGeom>
          <a:solidFill>
            <a:srgbClr val="1E293B"/>
          </a:solidFill>
          <a:ln w="12700">
            <a:solidFill>
              <a:srgbClr val="1E293B"/>
            </a:solidFill>
            <a:prstDash val="solid"/>
          </a:ln>
          <a:effectLst>
            <a:outerShdw sx="100000" sy="100000" kx="0" ky="0" algn="bl" rotWithShape="0" blurRad="101600" dist="25400" dir="5400000">
              <a:srgbClr val="0B1220">
                <a:alpha val="14000"/>
              </a:srgbClr>
            </a:outerShdw>
          </a:effectLst>
        </p:spPr>
      </p:sp>
      <p:sp>
        <p:nvSpPr>
          <p:cNvPr id="5" name="Text 3"/>
          <p:cNvSpPr txBox="1"/>
          <p:nvPr/>
        </p:nvSpPr>
        <p:spPr>
          <a:xfrm>
            <a:off x="731520" y="1325880"/>
            <a:ext cx="3566160" cy="365760"/>
          </a:xfrm>
          <a:prstGeom prst="rect">
            <a:avLst/>
          </a:prstGeom>
          <a:noFill/>
          <a:ln/>
        </p:spPr>
        <p:txBody>
          <a:bodyPr wrap="square" lIns="0" tIns="0" rIns="0" bIns="0" rtlCol="0" anchor="t"/>
          <a:lstStyle/>
          <a:p>
            <a:pPr indent="0" marL="0">
              <a:buNone/>
            </a:pPr>
            <a:r>
              <a:rPr lang="en-US" sz="1800" b="1" dirty="0">
                <a:solidFill>
                  <a:schemeClr val="tx1"/>
                </a:solidFill>
              </a:rPr>
              <a:t>What people get today</a:t>
            </a:r>
            <a:endParaRPr lang="en-US" sz="1800" dirty="0"/>
          </a:p>
        </p:txBody>
      </p:sp>
      <p:sp>
        <p:nvSpPr>
          <p:cNvPr id="6" name="Text 4"/>
          <p:cNvSpPr txBox="1"/>
          <p:nvPr/>
        </p:nvSpPr>
        <p:spPr>
          <a:xfrm>
            <a:off x="4937760" y="1325880"/>
            <a:ext cx="3566160" cy="365760"/>
          </a:xfrm>
          <a:prstGeom prst="rect">
            <a:avLst/>
          </a:prstGeom>
          <a:noFill/>
          <a:ln/>
        </p:spPr>
        <p:txBody>
          <a:bodyPr wrap="square" lIns="0" tIns="0" rIns="0" bIns="0" rtlCol="0" anchor="t"/>
          <a:lstStyle/>
          <a:p>
            <a:pPr indent="0" marL="0">
              <a:buNone/>
            </a:pPr>
            <a:r>
              <a:rPr lang="en-US" sz="1800" b="1" dirty="0">
                <a:solidFill>
                  <a:schemeClr val="bg1"/>
                </a:solidFill>
              </a:rPr>
              <a:t>What they need to act</a:t>
            </a:r>
            <a:endParaRPr lang="en-US" sz="1800" dirty="0"/>
          </a:p>
        </p:txBody>
      </p:sp>
      <p:sp>
        <p:nvSpPr>
          <p:cNvPr id="7" name="Text 5"/>
          <p:cNvSpPr txBox="1"/>
          <p:nvPr/>
        </p:nvSpPr>
        <p:spPr>
          <a:xfrm>
            <a:off x="731520" y="1828800"/>
            <a:ext cx="3566160" cy="365760"/>
          </a:xfrm>
          <a:prstGeom prst="rect">
            <a:avLst/>
          </a:prstGeom>
          <a:noFill/>
          <a:ln/>
        </p:spPr>
        <p:txBody>
          <a:bodyPr wrap="square" lIns="0" tIns="0" rIns="0" bIns="0" rtlCol="0" anchor="ctr"/>
          <a:lstStyle/>
          <a:p>
            <a:pPr indent="0" marL="0">
              <a:buNone/>
            </a:pPr>
            <a:r>
              <a:rPr lang="en-US" sz="1300" dirty="0">
                <a:solidFill>
                  <a:schemeClr val="tx2"/>
                </a:solidFill>
              </a:rPr>
              <a:t>A district-scale forecast on a 10 to 25 km grid</a:t>
            </a:r>
            <a:endParaRPr lang="en-US" sz="1300" dirty="0"/>
          </a:p>
        </p:txBody>
      </p:sp>
      <p:sp>
        <p:nvSpPr>
          <p:cNvPr id="8" name="Text 6"/>
          <p:cNvSpPr txBox="1"/>
          <p:nvPr/>
        </p:nvSpPr>
        <p:spPr>
          <a:xfrm>
            <a:off x="731520" y="2359152"/>
            <a:ext cx="3566160" cy="365760"/>
          </a:xfrm>
          <a:prstGeom prst="rect">
            <a:avLst/>
          </a:prstGeom>
          <a:noFill/>
          <a:ln/>
        </p:spPr>
        <p:txBody>
          <a:bodyPr wrap="square" lIns="0" tIns="0" rIns="0" bIns="0" rtlCol="0" anchor="ctr"/>
          <a:lstStyle/>
          <a:p>
            <a:pPr indent="0" marL="0">
              <a:buNone/>
            </a:pPr>
            <a:r>
              <a:rPr lang="en-US" sz="1300" dirty="0">
                <a:solidFill>
                  <a:schemeClr val="tx2"/>
                </a:solidFill>
              </a:rPr>
              <a:t>Rainfall in millimetres, no depth, no duration</a:t>
            </a:r>
            <a:endParaRPr lang="en-US" sz="1300" dirty="0"/>
          </a:p>
        </p:txBody>
      </p:sp>
      <p:sp>
        <p:nvSpPr>
          <p:cNvPr id="9" name="Text 7"/>
          <p:cNvSpPr txBox="1"/>
          <p:nvPr/>
        </p:nvSpPr>
        <p:spPr>
          <a:xfrm>
            <a:off x="731520" y="2889504"/>
            <a:ext cx="3566160" cy="365760"/>
          </a:xfrm>
          <a:prstGeom prst="rect">
            <a:avLst/>
          </a:prstGeom>
          <a:noFill/>
          <a:ln/>
        </p:spPr>
        <p:txBody>
          <a:bodyPr wrap="square" lIns="0" tIns="0" rIns="0" bIns="0" rtlCol="0" anchor="ctr"/>
          <a:lstStyle/>
          <a:p>
            <a:pPr indent="0" marL="0">
              <a:buNone/>
            </a:pPr>
            <a:r>
              <a:rPr lang="en-US" sz="1300" dirty="0">
                <a:solidFill>
                  <a:schemeClr val="tx2"/>
                </a:solidFill>
              </a:rPr>
              <a:t>One alert for every ward, so people tune it out</a:t>
            </a:r>
            <a:endParaRPr lang="en-US" sz="1300" dirty="0"/>
          </a:p>
        </p:txBody>
      </p:sp>
      <p:sp>
        <p:nvSpPr>
          <p:cNvPr id="10" name="Text 8"/>
          <p:cNvSpPr txBox="1"/>
          <p:nvPr/>
        </p:nvSpPr>
        <p:spPr>
          <a:xfrm>
            <a:off x="731520" y="3419856"/>
            <a:ext cx="3566160" cy="365760"/>
          </a:xfrm>
          <a:prstGeom prst="rect">
            <a:avLst/>
          </a:prstGeom>
          <a:noFill/>
          <a:ln/>
        </p:spPr>
        <p:txBody>
          <a:bodyPr wrap="square" lIns="0" tIns="0" rIns="0" bIns="0" rtlCol="0" anchor="ctr"/>
          <a:lstStyle/>
          <a:p>
            <a:pPr indent="0" marL="0">
              <a:buNone/>
            </a:pPr>
            <a:r>
              <a:rPr lang="en-US" sz="1300" dirty="0">
                <a:solidFill>
                  <a:schemeClr val="tx2"/>
                </a:solidFill>
              </a:rPr>
              <a:t>A colour code with no reasons attached</a:t>
            </a:r>
            <a:endParaRPr lang="en-US" sz="1300" dirty="0"/>
          </a:p>
        </p:txBody>
      </p:sp>
      <p:sp>
        <p:nvSpPr>
          <p:cNvPr id="11" name="Text 9"/>
          <p:cNvSpPr txBox="1"/>
          <p:nvPr/>
        </p:nvSpPr>
        <p:spPr>
          <a:xfrm>
            <a:off x="731520" y="3950208"/>
            <a:ext cx="3566160" cy="365760"/>
          </a:xfrm>
          <a:prstGeom prst="rect">
            <a:avLst/>
          </a:prstGeom>
          <a:noFill/>
          <a:ln/>
        </p:spPr>
        <p:txBody>
          <a:bodyPr wrap="square" lIns="0" tIns="0" rIns="0" bIns="0" rtlCol="0" anchor="ctr"/>
          <a:lstStyle/>
          <a:p>
            <a:pPr indent="0" marL="0">
              <a:buNone/>
            </a:pPr>
            <a:r>
              <a:rPr lang="en-US" sz="1300" dirty="0">
                <a:solidFill>
                  <a:schemeClr val="tx2"/>
                </a:solidFill>
              </a:rPr>
              <a:t>Warnings go out, ground truth never comes back</a:t>
            </a:r>
            <a:endParaRPr lang="en-US" sz="1300" dirty="0"/>
          </a:p>
        </p:txBody>
      </p:sp>
      <p:sp>
        <p:nvSpPr>
          <p:cNvPr id="12" name="Text 10"/>
          <p:cNvSpPr txBox="1"/>
          <p:nvPr/>
        </p:nvSpPr>
        <p:spPr>
          <a:xfrm>
            <a:off x="4937760" y="1828800"/>
            <a:ext cx="3566160" cy="365760"/>
          </a:xfrm>
          <a:prstGeom prst="rect">
            <a:avLst/>
          </a:prstGeom>
          <a:noFill/>
          <a:ln/>
        </p:spPr>
        <p:txBody>
          <a:bodyPr wrap="square" lIns="0" tIns="0" rIns="0" bIns="0" rtlCol="0" anchor="ctr"/>
          <a:lstStyle/>
          <a:p>
            <a:pPr indent="0" marL="0">
              <a:buNone/>
            </a:pPr>
            <a:r>
              <a:rPr lang="en-US" sz="1300" dirty="0">
                <a:solidFill>
                  <a:schemeClr val="bg2"/>
                </a:solidFill>
              </a:rPr>
              <a:t>Street-scale impact on a 5 to 30 metre grid</a:t>
            </a:r>
            <a:endParaRPr lang="en-US" sz="1300" dirty="0"/>
          </a:p>
        </p:txBody>
      </p:sp>
      <p:sp>
        <p:nvSpPr>
          <p:cNvPr id="13" name="Text 11"/>
          <p:cNvSpPr txBox="1"/>
          <p:nvPr/>
        </p:nvSpPr>
        <p:spPr>
          <a:xfrm>
            <a:off x="4937760" y="2359152"/>
            <a:ext cx="3566160" cy="365760"/>
          </a:xfrm>
          <a:prstGeom prst="rect">
            <a:avLst/>
          </a:prstGeom>
          <a:noFill/>
          <a:ln/>
        </p:spPr>
        <p:txBody>
          <a:bodyPr wrap="square" lIns="0" tIns="0" rIns="0" bIns="0" rtlCol="0" anchor="ctr"/>
          <a:lstStyle/>
          <a:p>
            <a:pPr indent="0" marL="0">
              <a:buNone/>
            </a:pPr>
            <a:r>
              <a:rPr lang="en-US" sz="1300" dirty="0">
                <a:solidFill>
                  <a:schemeClr val="bg2"/>
                </a:solidFill>
              </a:rPr>
              <a:t>Ponding depth, hours under water, roads passable</a:t>
            </a:r>
            <a:endParaRPr lang="en-US" sz="1300" dirty="0"/>
          </a:p>
        </p:txBody>
      </p:sp>
      <p:sp>
        <p:nvSpPr>
          <p:cNvPr id="14" name="Text 12"/>
          <p:cNvSpPr txBox="1"/>
          <p:nvPr/>
        </p:nvSpPr>
        <p:spPr>
          <a:xfrm>
            <a:off x="4937760" y="2889504"/>
            <a:ext cx="3566160" cy="365760"/>
          </a:xfrm>
          <a:prstGeom prst="rect">
            <a:avLst/>
          </a:prstGeom>
          <a:noFill/>
          <a:ln/>
        </p:spPr>
        <p:txBody>
          <a:bodyPr wrap="square" lIns="0" tIns="0" rIns="0" bIns="0" rtlCol="0" anchor="ctr"/>
          <a:lstStyle/>
          <a:p>
            <a:pPr indent="0" marL="0">
              <a:buNone/>
            </a:pPr>
            <a:r>
              <a:rPr lang="en-US" sz="1300" dirty="0">
                <a:solidFill>
                  <a:schemeClr val="bg2"/>
                </a:solidFill>
              </a:rPr>
              <a:t>Alerts only for the wards that will flood</a:t>
            </a:r>
            <a:endParaRPr lang="en-US" sz="1300" dirty="0"/>
          </a:p>
        </p:txBody>
      </p:sp>
      <p:sp>
        <p:nvSpPr>
          <p:cNvPr id="15" name="Text 13"/>
          <p:cNvSpPr txBox="1"/>
          <p:nvPr/>
        </p:nvSpPr>
        <p:spPr>
          <a:xfrm>
            <a:off x="4937760" y="3419856"/>
            <a:ext cx="3566160" cy="365760"/>
          </a:xfrm>
          <a:prstGeom prst="rect">
            <a:avLst/>
          </a:prstGeom>
          <a:noFill/>
          <a:ln/>
        </p:spPr>
        <p:txBody>
          <a:bodyPr wrap="square" lIns="0" tIns="0" rIns="0" bIns="0" rtlCol="0" anchor="ctr"/>
          <a:lstStyle/>
          <a:p>
            <a:pPr indent="0" marL="0">
              <a:buNone/>
            </a:pPr>
            <a:r>
              <a:rPr lang="en-US" sz="1300" dirty="0">
                <a:solidFill>
                  <a:schemeClr val="bg2"/>
                </a:solidFill>
              </a:rPr>
              <a:t>Every score explained by its drivers</a:t>
            </a:r>
            <a:endParaRPr lang="en-US" sz="1300" dirty="0"/>
          </a:p>
        </p:txBody>
      </p:sp>
      <p:sp>
        <p:nvSpPr>
          <p:cNvPr id="16" name="Text 14"/>
          <p:cNvSpPr txBox="1"/>
          <p:nvPr/>
        </p:nvSpPr>
        <p:spPr>
          <a:xfrm>
            <a:off x="4937760" y="3950208"/>
            <a:ext cx="3566160" cy="365760"/>
          </a:xfrm>
          <a:prstGeom prst="rect">
            <a:avLst/>
          </a:prstGeom>
          <a:noFill/>
          <a:ln/>
        </p:spPr>
        <p:txBody>
          <a:bodyPr wrap="square" lIns="0" tIns="0" rIns="0" bIns="0" rtlCol="0" anchor="ctr"/>
          <a:lstStyle/>
          <a:p>
            <a:pPr indent="0" marL="0">
              <a:buNone/>
            </a:pPr>
            <a:r>
              <a:rPr lang="en-US" sz="1300" dirty="0">
                <a:solidFill>
                  <a:schemeClr val="bg2"/>
                </a:solidFill>
              </a:rPr>
              <a:t>Community reports fused back into the model</a:t>
            </a:r>
            <a:endParaRPr lang="en-US" sz="1300" dirty="0"/>
          </a:p>
        </p:txBody>
      </p:sp>
      <p:sp>
        <p:nvSpPr>
          <p:cNvPr id="25" name="Slide Number Placeholder 0"/>
          <p:cNvSpPr>
            <a:spLocks noGrp="1"/>
          </p:cNvSpPr>
          <p:nvPr>
            <p:ph type="sldNum" sz="quarter" idx="4294967295"/>
          </p:nvPr>
        </p:nvSpPr>
        <p:spPr>
          <a:xfrm>
            <a:off x="832104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indent="0" marL="0">
              <a:buNone/>
            </a:pPr>
            <a:r>
              <a:rPr lang="en-US" sz="2800" b="1" dirty="0">
                <a:solidFill>
                  <a:srgbClr val="0B1220"/>
                </a:solidFill>
              </a:rPr>
              <a:t>What RIIS does</a:t>
            </a:r>
            <a:endParaRPr lang="en-US" sz="2800" dirty="0"/>
          </a:p>
        </p:txBody>
      </p:sp>
      <p:sp>
        <p:nvSpPr>
          <p:cNvPr id="3" name="step Live data"/>
          <p:cNvSpPr/>
          <p:nvPr/>
        </p:nvSpPr>
        <p:spPr>
          <a:xfrm>
            <a:off x="457200" y="1188720"/>
            <a:ext cx="1965960" cy="1325880"/>
          </a:xfrm>
          <a:prstGeom prst="roundRect">
            <a:avLst>
              <a:gd name="adj" fmla="val 5517"/>
            </a:avLst>
          </a:prstGeom>
          <a:solidFill>
            <a:schemeClr val="bg1"/>
          </a:solidFill>
          <a:ln w="12700">
            <a:solidFill>
              <a:schemeClr val="bg1"/>
            </a:solidFill>
            <a:prstDash val="solid"/>
          </a:ln>
          <a:effectLst>
            <a:outerShdw sx="100000" sy="100000" kx="0" ky="0" algn="bl" rotWithShape="0" blurRad="101600" dist="25400" dir="5400000">
              <a:srgbClr val="0B1220">
                <a:alpha val="14000"/>
              </a:srgbClr>
            </a:outerShdw>
          </a:effectLst>
        </p:spPr>
      </p:sp>
      <p:sp>
        <p:nvSpPr>
          <p:cNvPr id="4" name="Text 2"/>
          <p:cNvSpPr txBox="1"/>
          <p:nvPr/>
        </p:nvSpPr>
        <p:spPr>
          <a:xfrm>
            <a:off x="640080" y="1325880"/>
            <a:ext cx="1645920" cy="320040"/>
          </a:xfrm>
          <a:prstGeom prst="rect">
            <a:avLst/>
          </a:prstGeom>
          <a:noFill/>
          <a:ln/>
        </p:spPr>
        <p:txBody>
          <a:bodyPr wrap="square" lIns="0" tIns="0" rIns="0" bIns="0" rtlCol="0" anchor="t"/>
          <a:lstStyle/>
          <a:p>
            <a:pPr indent="0" marL="0">
              <a:buNone/>
            </a:pPr>
            <a:r>
              <a:rPr lang="en-US" sz="1600" b="1" dirty="0">
                <a:solidFill>
                  <a:schemeClr val="tx1"/>
                </a:solidFill>
              </a:rPr>
              <a:t>Live data</a:t>
            </a:r>
            <a:endParaRPr lang="en-US" sz="1600" dirty="0"/>
          </a:p>
        </p:txBody>
      </p:sp>
      <p:sp>
        <p:nvSpPr>
          <p:cNvPr id="5" name="Text 3"/>
          <p:cNvSpPr txBox="1"/>
          <p:nvPr/>
        </p:nvSpPr>
        <p:spPr>
          <a:xfrm>
            <a:off x="640080" y="1691640"/>
            <a:ext cx="1645920" cy="731520"/>
          </a:xfrm>
          <a:prstGeom prst="rect">
            <a:avLst/>
          </a:prstGeom>
          <a:noFill/>
          <a:ln/>
        </p:spPr>
        <p:txBody>
          <a:bodyPr wrap="square" lIns="0" tIns="0" rIns="0" bIns="0" rtlCol="0" anchor="t"/>
          <a:lstStyle/>
          <a:p>
            <a:pPr indent="0" marL="0">
              <a:buNone/>
            </a:pPr>
            <a:r>
              <a:rPr lang="en-US" sz="1150" dirty="0">
                <a:solidFill>
                  <a:schemeClr val="tx2"/>
                </a:solidFill>
              </a:rPr>
              <a:t>Weather, terrain, soil, drains, reservoirs, flood history</a:t>
            </a:r>
            <a:endParaRPr lang="en-US" sz="1150" dirty="0"/>
          </a:p>
        </p:txBody>
      </p:sp>
      <p:sp>
        <p:nvSpPr>
          <p:cNvPr id="6" name="arrow 0"/>
          <p:cNvSpPr/>
          <p:nvPr/>
        </p:nvSpPr>
        <p:spPr>
          <a:xfrm>
            <a:off x="2423160" y="1664208"/>
            <a:ext cx="182880" cy="365760"/>
          </a:xfrm>
          <a:prstGeom prst="rightArrow">
            <a:avLst/>
          </a:prstGeom>
          <a:solidFill>
            <a:srgbClr val="64748B"/>
          </a:solidFill>
          <a:ln w="12700">
            <a:solidFill>
              <a:srgbClr val="64748B"/>
            </a:solidFill>
            <a:prstDash val="solid"/>
          </a:ln>
        </p:spPr>
      </p:sp>
      <p:sp>
        <p:nvSpPr>
          <p:cNvPr id="7" name="step Impact engine"/>
          <p:cNvSpPr/>
          <p:nvPr/>
        </p:nvSpPr>
        <p:spPr>
          <a:xfrm>
            <a:off x="2606040" y="1188720"/>
            <a:ext cx="1965960" cy="1325880"/>
          </a:xfrm>
          <a:prstGeom prst="roundRect">
            <a:avLst>
              <a:gd name="adj" fmla="val 5517"/>
            </a:avLst>
          </a:prstGeom>
          <a:solidFill>
            <a:schemeClr val="bg1"/>
          </a:solidFill>
          <a:ln w="12700">
            <a:solidFill>
              <a:schemeClr val="bg1"/>
            </a:solidFill>
            <a:prstDash val="solid"/>
          </a:ln>
          <a:effectLst>
            <a:outerShdw sx="100000" sy="100000" kx="0" ky="0" algn="bl" rotWithShape="0" blurRad="101600" dist="25400" dir="5400000">
              <a:srgbClr val="0B1220">
                <a:alpha val="14000"/>
              </a:srgbClr>
            </a:outerShdw>
          </a:effectLst>
        </p:spPr>
      </p:sp>
      <p:sp>
        <p:nvSpPr>
          <p:cNvPr id="8" name="Text 6"/>
          <p:cNvSpPr txBox="1"/>
          <p:nvPr/>
        </p:nvSpPr>
        <p:spPr>
          <a:xfrm>
            <a:off x="2788920" y="1325880"/>
            <a:ext cx="1645920" cy="320040"/>
          </a:xfrm>
          <a:prstGeom prst="rect">
            <a:avLst/>
          </a:prstGeom>
          <a:noFill/>
          <a:ln/>
        </p:spPr>
        <p:txBody>
          <a:bodyPr wrap="square" lIns="0" tIns="0" rIns="0" bIns="0" rtlCol="0" anchor="t"/>
          <a:lstStyle/>
          <a:p>
            <a:pPr indent="0" marL="0">
              <a:buNone/>
            </a:pPr>
            <a:r>
              <a:rPr lang="en-US" sz="1600" b="1" dirty="0">
                <a:solidFill>
                  <a:schemeClr val="tx1"/>
                </a:solidFill>
              </a:rPr>
              <a:t>Impact engine</a:t>
            </a:r>
            <a:endParaRPr lang="en-US" sz="1600" dirty="0"/>
          </a:p>
        </p:txBody>
      </p:sp>
      <p:sp>
        <p:nvSpPr>
          <p:cNvPr id="9" name="Text 7"/>
          <p:cNvSpPr txBox="1"/>
          <p:nvPr/>
        </p:nvSpPr>
        <p:spPr>
          <a:xfrm>
            <a:off x="2788920" y="1691640"/>
            <a:ext cx="1645920" cy="731520"/>
          </a:xfrm>
          <a:prstGeom prst="rect">
            <a:avLst/>
          </a:prstGeom>
          <a:noFill/>
          <a:ln/>
        </p:spPr>
        <p:txBody>
          <a:bodyPr wrap="square" lIns="0" tIns="0" rIns="0" bIns="0" rtlCol="0" anchor="t"/>
          <a:lstStyle/>
          <a:p>
            <a:pPr indent="0" marL="0">
              <a:buNone/>
            </a:pPr>
            <a:r>
              <a:rPr lang="en-US" sz="1150" dirty="0">
                <a:solidFill>
                  <a:schemeClr val="tx2"/>
                </a:solidFill>
              </a:rPr>
              <a:t>Ten weighted factors plus a DEM flood simulation</a:t>
            </a:r>
            <a:endParaRPr lang="en-US" sz="1150" dirty="0"/>
          </a:p>
        </p:txBody>
      </p:sp>
      <p:sp>
        <p:nvSpPr>
          <p:cNvPr id="10" name="arrow 1"/>
          <p:cNvSpPr/>
          <p:nvPr/>
        </p:nvSpPr>
        <p:spPr>
          <a:xfrm>
            <a:off x="4572000" y="1664208"/>
            <a:ext cx="182880" cy="365760"/>
          </a:xfrm>
          <a:prstGeom prst="rightArrow">
            <a:avLst/>
          </a:prstGeom>
          <a:solidFill>
            <a:srgbClr val="64748B"/>
          </a:solidFill>
          <a:ln w="12700">
            <a:solidFill>
              <a:srgbClr val="64748B"/>
            </a:solidFill>
            <a:prstDash val="solid"/>
          </a:ln>
        </p:spPr>
      </p:sp>
      <p:sp>
        <p:nvSpPr>
          <p:cNvPr id="11" name="step Trained models"/>
          <p:cNvSpPr/>
          <p:nvPr/>
        </p:nvSpPr>
        <p:spPr>
          <a:xfrm>
            <a:off x="4754880" y="1188720"/>
            <a:ext cx="1965960" cy="1325880"/>
          </a:xfrm>
          <a:prstGeom prst="roundRect">
            <a:avLst>
              <a:gd name="adj" fmla="val 5517"/>
            </a:avLst>
          </a:prstGeom>
          <a:solidFill>
            <a:schemeClr val="bg1"/>
          </a:solidFill>
          <a:ln w="12700">
            <a:solidFill>
              <a:schemeClr val="bg1"/>
            </a:solidFill>
            <a:prstDash val="solid"/>
          </a:ln>
          <a:effectLst>
            <a:outerShdw sx="100000" sy="100000" kx="0" ky="0" algn="bl" rotWithShape="0" blurRad="101600" dist="25400" dir="5400000">
              <a:srgbClr val="0B1220">
                <a:alpha val="14000"/>
              </a:srgbClr>
            </a:outerShdw>
          </a:effectLst>
        </p:spPr>
      </p:sp>
      <p:sp>
        <p:nvSpPr>
          <p:cNvPr id="12" name="Text 10"/>
          <p:cNvSpPr txBox="1"/>
          <p:nvPr/>
        </p:nvSpPr>
        <p:spPr>
          <a:xfrm>
            <a:off x="4937760" y="1325880"/>
            <a:ext cx="1645920" cy="320040"/>
          </a:xfrm>
          <a:prstGeom prst="rect">
            <a:avLst/>
          </a:prstGeom>
          <a:noFill/>
          <a:ln/>
        </p:spPr>
        <p:txBody>
          <a:bodyPr wrap="square" lIns="0" tIns="0" rIns="0" bIns="0" rtlCol="0" anchor="t"/>
          <a:lstStyle/>
          <a:p>
            <a:pPr indent="0" marL="0">
              <a:buNone/>
            </a:pPr>
            <a:r>
              <a:rPr lang="en-US" sz="1600" b="1" dirty="0">
                <a:solidFill>
                  <a:schemeClr val="tx1"/>
                </a:solidFill>
              </a:rPr>
              <a:t>Trained models</a:t>
            </a:r>
            <a:endParaRPr lang="en-US" sz="1600" dirty="0"/>
          </a:p>
        </p:txBody>
      </p:sp>
      <p:sp>
        <p:nvSpPr>
          <p:cNvPr id="13" name="Text 11"/>
          <p:cNvSpPr txBox="1"/>
          <p:nvPr/>
        </p:nvSpPr>
        <p:spPr>
          <a:xfrm>
            <a:off x="4937760" y="1691640"/>
            <a:ext cx="1645920" cy="731520"/>
          </a:xfrm>
          <a:prstGeom prst="rect">
            <a:avLst/>
          </a:prstGeom>
          <a:noFill/>
          <a:ln/>
        </p:spPr>
        <p:txBody>
          <a:bodyPr wrap="square" lIns="0" tIns="0" rIns="0" bIns="0" rtlCol="0" anchor="t"/>
          <a:lstStyle/>
          <a:p>
            <a:pPr indent="0" marL="0">
              <a:buNone/>
            </a:pPr>
            <a:r>
              <a:rPr lang="en-US" sz="1150" dirty="0">
                <a:solidFill>
                  <a:schemeClr val="tx2"/>
                </a:solidFill>
              </a:rPr>
              <a:t>Tabular, sequence and spatial, with SHAP</a:t>
            </a:r>
            <a:endParaRPr lang="en-US" sz="1150" dirty="0"/>
          </a:p>
        </p:txBody>
      </p:sp>
      <p:sp>
        <p:nvSpPr>
          <p:cNvPr id="14" name="arrow 2"/>
          <p:cNvSpPr/>
          <p:nvPr/>
        </p:nvSpPr>
        <p:spPr>
          <a:xfrm>
            <a:off x="6720840" y="1664208"/>
            <a:ext cx="182880" cy="365760"/>
          </a:xfrm>
          <a:prstGeom prst="rightArrow">
            <a:avLst/>
          </a:prstGeom>
          <a:solidFill>
            <a:srgbClr val="64748B"/>
          </a:solidFill>
          <a:ln w="12700">
            <a:solidFill>
              <a:srgbClr val="64748B"/>
            </a:solidFill>
            <a:prstDash val="solid"/>
          </a:ln>
        </p:spPr>
      </p:sp>
      <p:sp>
        <p:nvSpPr>
          <p:cNvPr id="15" name="step Actions"/>
          <p:cNvSpPr/>
          <p:nvPr/>
        </p:nvSpPr>
        <p:spPr>
          <a:xfrm>
            <a:off x="6903720" y="1188720"/>
            <a:ext cx="1965960" cy="1325880"/>
          </a:xfrm>
          <a:prstGeom prst="roundRect">
            <a:avLst>
              <a:gd name="adj" fmla="val 5517"/>
            </a:avLst>
          </a:prstGeom>
          <a:solidFill>
            <a:schemeClr val="bg1"/>
          </a:solidFill>
          <a:ln w="12700">
            <a:solidFill>
              <a:schemeClr val="bg1"/>
            </a:solidFill>
            <a:prstDash val="solid"/>
          </a:ln>
          <a:effectLst>
            <a:outerShdw sx="100000" sy="100000" kx="0" ky="0" algn="bl" rotWithShape="0" blurRad="101600" dist="25400" dir="5400000">
              <a:srgbClr val="0B1220">
                <a:alpha val="14000"/>
              </a:srgbClr>
            </a:outerShdw>
          </a:effectLst>
        </p:spPr>
      </p:sp>
      <p:sp>
        <p:nvSpPr>
          <p:cNvPr id="16" name="Text 14"/>
          <p:cNvSpPr txBox="1"/>
          <p:nvPr/>
        </p:nvSpPr>
        <p:spPr>
          <a:xfrm>
            <a:off x="7086600" y="1325880"/>
            <a:ext cx="1645920" cy="320040"/>
          </a:xfrm>
          <a:prstGeom prst="rect">
            <a:avLst/>
          </a:prstGeom>
          <a:noFill/>
          <a:ln/>
        </p:spPr>
        <p:txBody>
          <a:bodyPr wrap="square" lIns="0" tIns="0" rIns="0" bIns="0" rtlCol="0" anchor="t"/>
          <a:lstStyle/>
          <a:p>
            <a:pPr indent="0" marL="0">
              <a:buNone/>
            </a:pPr>
            <a:r>
              <a:rPr lang="en-US" sz="1600" b="1" dirty="0">
                <a:solidFill>
                  <a:schemeClr val="tx1"/>
                </a:solidFill>
              </a:rPr>
              <a:t>Actions</a:t>
            </a:r>
            <a:endParaRPr lang="en-US" sz="1600" dirty="0"/>
          </a:p>
        </p:txBody>
      </p:sp>
      <p:sp>
        <p:nvSpPr>
          <p:cNvPr id="17" name="Text 15"/>
          <p:cNvSpPr txBox="1"/>
          <p:nvPr/>
        </p:nvSpPr>
        <p:spPr>
          <a:xfrm>
            <a:off x="7086600" y="1691640"/>
            <a:ext cx="1645920" cy="731520"/>
          </a:xfrm>
          <a:prstGeom prst="rect">
            <a:avLst/>
          </a:prstGeom>
          <a:noFill/>
          <a:ln/>
        </p:spPr>
        <p:txBody>
          <a:bodyPr wrap="square" lIns="0" tIns="0" rIns="0" bIns="0" rtlCol="0" anchor="t"/>
          <a:lstStyle/>
          <a:p>
            <a:pPr indent="0" marL="0">
              <a:buNone/>
            </a:pPr>
            <a:r>
              <a:rPr lang="en-US" sz="1150" dirty="0">
                <a:solidFill>
                  <a:schemeClr val="tx2"/>
                </a:solidFill>
              </a:rPr>
              <a:t>Safe routes, farm advice, ward alerts, what-if maps</a:t>
            </a:r>
            <a:endParaRPr lang="en-US" sz="1150" dirty="0"/>
          </a:p>
        </p:txBody>
      </p:sp>
      <p:pic>
        <p:nvPicPr>
          <p:cNvPr id="18" name="dashboard screenshot" descr="C:\Users\Piyush\AppData\Local\Temp\claude\C--Users-Piyush-OneDrive-Desktop-rainfall-predictor\7052997d-b1d5-47e8-85b7-36d79c80cb7b\scratchpad\shots\dashboard_strip.png">    </p:cNvPr>
          <p:cNvPicPr>
            <a:picLocks noChangeAspect="1"/>
          </p:cNvPicPr>
          <p:nvPr/>
        </p:nvPicPr>
        <p:blipFill>
          <a:blip r:embed="rId1"/>
          <a:stretch>
            <a:fillRect/>
          </a:stretch>
        </p:blipFill>
        <p:spPr>
          <a:xfrm>
            <a:off x="457200" y="2697480"/>
            <a:ext cx="8229600" cy="1920240"/>
          </a:xfrm>
          <a:prstGeom prst="rect">
            <a:avLst/>
          </a:prstGeom>
        </p:spPr>
      </p:pic>
      <p:sp>
        <p:nvSpPr>
          <p:cNvPr id="25" name="Slide Number Placeholder 0"/>
          <p:cNvSpPr>
            <a:spLocks noGrp="1"/>
          </p:cNvSpPr>
          <p:nvPr>
            <p:ph type="sldNum" sz="quarter" idx="4294967295"/>
          </p:nvPr>
        </p:nvSpPr>
        <p:spPr>
          <a:xfrm>
            <a:off x="832104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indent="0" marL="0">
              <a:buNone/>
            </a:pPr>
            <a:r>
              <a:rPr lang="en-US" sz="2800" b="1" dirty="0">
                <a:solidFill>
                  <a:srgbClr val="FFFFFF"/>
                </a:solidFill>
              </a:rPr>
              <a:t>Architecture</a:t>
            </a:r>
            <a:endParaRPr lang="en-US" sz="2800" dirty="0"/>
          </a:p>
        </p:txBody>
      </p:sp>
      <p:pic>
        <p:nvPicPr>
          <p:cNvPr id="3" name="architecture diagram" descr="C:\Users\Piyush\OneDrive\Desktop\rainfall predictor\outputs\RIIS_Architecture.png">    </p:cNvPr>
          <p:cNvPicPr>
            <a:picLocks noChangeAspect="1"/>
          </p:cNvPicPr>
          <p:nvPr/>
        </p:nvPicPr>
        <p:blipFill>
          <a:blip r:embed="rId1"/>
          <a:srcRect l="0" r="0" t="0" b="0"/>
          <a:stretch/>
        </p:blipFill>
        <p:spPr>
          <a:xfrm>
            <a:off x="457200" y="1005840"/>
            <a:ext cx="8229600" cy="3703320"/>
          </a:xfrm>
          <a:prstGeom prst="rect">
            <a:avLst/>
          </a:prstGeom>
        </p:spPr>
      </p:pic>
      <p:sp>
        <p:nvSpPr>
          <p:cNvPr id="25" name="Slide Number Placeholder 0"/>
          <p:cNvSpPr>
            <a:spLocks noGrp="1"/>
          </p:cNvSpPr>
          <p:nvPr>
            <p:ph type="sldNum" sz="quarter" idx="4294967295"/>
          </p:nvPr>
        </p:nvSpPr>
        <p:spPr>
          <a:xfrm>
            <a:off x="832104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indent="0" marL="0">
              <a:buNone/>
            </a:pPr>
            <a:r>
              <a:rPr lang="en-US" sz="2800" b="1" dirty="0">
                <a:solidFill>
                  <a:srgbClr val="0B1220"/>
                </a:solidFill>
              </a:rPr>
              <a:t>Built on real, free, live data</a:t>
            </a:r>
            <a:endParaRPr lang="en-US" sz="2800" dirty="0"/>
          </a:p>
        </p:txBody>
      </p:sp>
      <p:sp>
        <p:nvSpPr>
          <p:cNvPr id="3" name="src Open-Meteo archive"/>
          <p:cNvSpPr/>
          <p:nvPr/>
        </p:nvSpPr>
        <p:spPr>
          <a:xfrm>
            <a:off x="457200" y="1143000"/>
            <a:ext cx="1965960" cy="1280160"/>
          </a:xfrm>
          <a:prstGeom prst="roundRect">
            <a:avLst>
              <a:gd name="adj" fmla="val 5714"/>
            </a:avLst>
          </a:prstGeom>
          <a:solidFill>
            <a:schemeClr val="bg1"/>
          </a:solidFill>
          <a:ln w="12700">
            <a:solidFill>
              <a:schemeClr val="bg1"/>
            </a:solidFill>
            <a:prstDash val="solid"/>
          </a:ln>
          <a:effectLst>
            <a:outerShdw sx="100000" sy="100000" kx="0" ky="0" algn="bl" rotWithShape="0" blurRad="101600" dist="25400" dir="5400000">
              <a:srgbClr val="0B1220">
                <a:alpha val="14000"/>
              </a:srgbClr>
            </a:outerShdw>
          </a:effectLst>
        </p:spPr>
      </p:sp>
      <p:sp>
        <p:nvSpPr>
          <p:cNvPr id="4" name="Text 2"/>
          <p:cNvSpPr txBox="1"/>
          <p:nvPr/>
        </p:nvSpPr>
        <p:spPr>
          <a:xfrm>
            <a:off x="594360" y="1280160"/>
            <a:ext cx="1737360" cy="411480"/>
          </a:xfrm>
          <a:prstGeom prst="rect">
            <a:avLst/>
          </a:prstGeom>
          <a:noFill/>
          <a:ln/>
        </p:spPr>
        <p:txBody>
          <a:bodyPr wrap="square" lIns="0" tIns="0" rIns="0" bIns="0" rtlCol="0" anchor="ctr"/>
          <a:lstStyle/>
          <a:p>
            <a:pPr indent="0" marL="0">
              <a:buNone/>
            </a:pPr>
            <a:r>
              <a:rPr lang="en-US" sz="1300" b="1" dirty="0">
                <a:solidFill>
                  <a:schemeClr val="tx1"/>
                </a:solidFill>
              </a:rPr>
              <a:t>Open-Meteo archive</a:t>
            </a:r>
            <a:endParaRPr lang="en-US" sz="1300" dirty="0"/>
          </a:p>
        </p:txBody>
      </p:sp>
      <p:sp>
        <p:nvSpPr>
          <p:cNvPr id="5" name="Text 3"/>
          <p:cNvSpPr txBox="1"/>
          <p:nvPr/>
        </p:nvSpPr>
        <p:spPr>
          <a:xfrm>
            <a:off x="594360" y="1764792"/>
            <a:ext cx="1737360" cy="594360"/>
          </a:xfrm>
          <a:prstGeom prst="rect">
            <a:avLst/>
          </a:prstGeom>
          <a:noFill/>
          <a:ln/>
        </p:spPr>
        <p:txBody>
          <a:bodyPr wrap="square" lIns="0" tIns="0" rIns="0" bIns="0" rtlCol="0" anchor="t"/>
          <a:lstStyle/>
          <a:p>
            <a:pPr indent="0" marL="0">
              <a:buNone/>
            </a:pPr>
            <a:r>
              <a:rPr lang="en-US" sz="1050" dirty="0">
                <a:solidFill>
                  <a:schemeClr val="tx2"/>
                </a:solidFill>
              </a:rPr>
              <a:t>ERA5 and ERA5-Land, daily and hourly, 36 districts</a:t>
            </a:r>
            <a:endParaRPr lang="en-US" sz="1050" dirty="0"/>
          </a:p>
        </p:txBody>
      </p:sp>
      <p:sp>
        <p:nvSpPr>
          <p:cNvPr id="6" name="src Open-Meteo forecast"/>
          <p:cNvSpPr/>
          <p:nvPr/>
        </p:nvSpPr>
        <p:spPr>
          <a:xfrm>
            <a:off x="2560320" y="1143000"/>
            <a:ext cx="1965960" cy="1280160"/>
          </a:xfrm>
          <a:prstGeom prst="roundRect">
            <a:avLst>
              <a:gd name="adj" fmla="val 5714"/>
            </a:avLst>
          </a:prstGeom>
          <a:solidFill>
            <a:schemeClr val="bg1"/>
          </a:solidFill>
          <a:ln w="12700">
            <a:solidFill>
              <a:schemeClr val="bg1"/>
            </a:solidFill>
            <a:prstDash val="solid"/>
          </a:ln>
          <a:effectLst>
            <a:outerShdw sx="100000" sy="100000" kx="0" ky="0" algn="bl" rotWithShape="0" blurRad="101600" dist="25400" dir="5400000">
              <a:srgbClr val="0B1220">
                <a:alpha val="14000"/>
              </a:srgbClr>
            </a:outerShdw>
          </a:effectLst>
        </p:spPr>
      </p:sp>
      <p:sp>
        <p:nvSpPr>
          <p:cNvPr id="7" name="Text 5"/>
          <p:cNvSpPr txBox="1"/>
          <p:nvPr/>
        </p:nvSpPr>
        <p:spPr>
          <a:xfrm>
            <a:off x="2697480" y="1280160"/>
            <a:ext cx="1737360" cy="411480"/>
          </a:xfrm>
          <a:prstGeom prst="rect">
            <a:avLst/>
          </a:prstGeom>
          <a:noFill/>
          <a:ln/>
        </p:spPr>
        <p:txBody>
          <a:bodyPr wrap="square" lIns="0" tIns="0" rIns="0" bIns="0" rtlCol="0" anchor="ctr"/>
          <a:lstStyle/>
          <a:p>
            <a:pPr indent="0" marL="0">
              <a:buNone/>
            </a:pPr>
            <a:r>
              <a:rPr lang="en-US" sz="1300" b="1" dirty="0">
                <a:solidFill>
                  <a:schemeClr val="tx1"/>
                </a:solidFill>
              </a:rPr>
              <a:t>Open-Meteo forecast</a:t>
            </a:r>
            <a:endParaRPr lang="en-US" sz="1300" dirty="0"/>
          </a:p>
        </p:txBody>
      </p:sp>
      <p:sp>
        <p:nvSpPr>
          <p:cNvPr id="8" name="Text 6"/>
          <p:cNvSpPr txBox="1"/>
          <p:nvPr/>
        </p:nvSpPr>
        <p:spPr>
          <a:xfrm>
            <a:off x="2697480" y="1764792"/>
            <a:ext cx="1737360" cy="594360"/>
          </a:xfrm>
          <a:prstGeom prst="rect">
            <a:avLst/>
          </a:prstGeom>
          <a:noFill/>
          <a:ln/>
        </p:spPr>
        <p:txBody>
          <a:bodyPr wrap="square" lIns="0" tIns="0" rIns="0" bIns="0" rtlCol="0" anchor="t"/>
          <a:lstStyle/>
          <a:p>
            <a:pPr indent="0" marL="0">
              <a:buNone/>
            </a:pPr>
            <a:r>
              <a:rPr lang="en-US" sz="1050" dirty="0">
                <a:solidFill>
                  <a:schemeClr val="tx2"/>
                </a:solidFill>
              </a:rPr>
              <a:t>Multi-model, marine tide, air quality, soil moisture</a:t>
            </a:r>
            <a:endParaRPr lang="en-US" sz="1050" dirty="0"/>
          </a:p>
        </p:txBody>
      </p:sp>
      <p:sp>
        <p:nvSpPr>
          <p:cNvPr id="9" name="src AWS Terrain Tiles"/>
          <p:cNvSpPr/>
          <p:nvPr/>
        </p:nvSpPr>
        <p:spPr>
          <a:xfrm>
            <a:off x="4663440" y="1143000"/>
            <a:ext cx="1965960" cy="1280160"/>
          </a:xfrm>
          <a:prstGeom prst="roundRect">
            <a:avLst>
              <a:gd name="adj" fmla="val 5714"/>
            </a:avLst>
          </a:prstGeom>
          <a:solidFill>
            <a:schemeClr val="bg1"/>
          </a:solidFill>
          <a:ln w="12700">
            <a:solidFill>
              <a:schemeClr val="bg1"/>
            </a:solidFill>
            <a:prstDash val="solid"/>
          </a:ln>
          <a:effectLst>
            <a:outerShdw sx="100000" sy="100000" kx="0" ky="0" algn="bl" rotWithShape="0" blurRad="101600" dist="25400" dir="5400000">
              <a:srgbClr val="0B1220">
                <a:alpha val="14000"/>
              </a:srgbClr>
            </a:outerShdw>
          </a:effectLst>
        </p:spPr>
      </p:sp>
      <p:sp>
        <p:nvSpPr>
          <p:cNvPr id="10" name="Text 8"/>
          <p:cNvSpPr txBox="1"/>
          <p:nvPr/>
        </p:nvSpPr>
        <p:spPr>
          <a:xfrm>
            <a:off x="4800600" y="1280160"/>
            <a:ext cx="1737360" cy="411480"/>
          </a:xfrm>
          <a:prstGeom prst="rect">
            <a:avLst/>
          </a:prstGeom>
          <a:noFill/>
          <a:ln/>
        </p:spPr>
        <p:txBody>
          <a:bodyPr wrap="square" lIns="0" tIns="0" rIns="0" bIns="0" rtlCol="0" anchor="ctr"/>
          <a:lstStyle/>
          <a:p>
            <a:pPr indent="0" marL="0">
              <a:buNone/>
            </a:pPr>
            <a:r>
              <a:rPr lang="en-US" sz="1300" b="1" dirty="0">
                <a:solidFill>
                  <a:schemeClr val="tx1"/>
                </a:solidFill>
              </a:rPr>
              <a:t>AWS Terrain Tiles</a:t>
            </a:r>
            <a:endParaRPr lang="en-US" sz="1300" dirty="0"/>
          </a:p>
        </p:txBody>
      </p:sp>
      <p:sp>
        <p:nvSpPr>
          <p:cNvPr id="11" name="Text 9"/>
          <p:cNvSpPr txBox="1"/>
          <p:nvPr/>
        </p:nvSpPr>
        <p:spPr>
          <a:xfrm>
            <a:off x="4800600" y="1764792"/>
            <a:ext cx="1737360" cy="594360"/>
          </a:xfrm>
          <a:prstGeom prst="rect">
            <a:avLst/>
          </a:prstGeom>
          <a:noFill/>
          <a:ln/>
        </p:spPr>
        <p:txBody>
          <a:bodyPr wrap="square" lIns="0" tIns="0" rIns="0" bIns="0" rtlCol="0" anchor="t"/>
          <a:lstStyle/>
          <a:p>
            <a:pPr indent="0" marL="0">
              <a:buNone/>
            </a:pPr>
            <a:r>
              <a:rPr lang="en-US" sz="1050" dirty="0">
                <a:solidFill>
                  <a:schemeClr val="tx2"/>
                </a:solidFill>
              </a:rPr>
              <a:t>SRTM elevation at 4.6 m, flow routing, HAND</a:t>
            </a:r>
            <a:endParaRPr lang="en-US" sz="1050" dirty="0"/>
          </a:p>
        </p:txBody>
      </p:sp>
      <p:sp>
        <p:nvSpPr>
          <p:cNvPr id="12" name="src OpenStreetMap"/>
          <p:cNvSpPr/>
          <p:nvPr/>
        </p:nvSpPr>
        <p:spPr>
          <a:xfrm>
            <a:off x="6766560" y="1143000"/>
            <a:ext cx="1965960" cy="1280160"/>
          </a:xfrm>
          <a:prstGeom prst="roundRect">
            <a:avLst>
              <a:gd name="adj" fmla="val 5714"/>
            </a:avLst>
          </a:prstGeom>
          <a:solidFill>
            <a:schemeClr val="bg1"/>
          </a:solidFill>
          <a:ln w="12700">
            <a:solidFill>
              <a:schemeClr val="bg1"/>
            </a:solidFill>
            <a:prstDash val="solid"/>
          </a:ln>
          <a:effectLst>
            <a:outerShdw sx="100000" sy="100000" kx="0" ky="0" algn="bl" rotWithShape="0" blurRad="101600" dist="25400" dir="5400000">
              <a:srgbClr val="0B1220">
                <a:alpha val="14000"/>
              </a:srgbClr>
            </a:outerShdw>
          </a:effectLst>
        </p:spPr>
      </p:sp>
      <p:sp>
        <p:nvSpPr>
          <p:cNvPr id="13" name="Text 11"/>
          <p:cNvSpPr txBox="1"/>
          <p:nvPr/>
        </p:nvSpPr>
        <p:spPr>
          <a:xfrm>
            <a:off x="6903720" y="1280160"/>
            <a:ext cx="1737360" cy="411480"/>
          </a:xfrm>
          <a:prstGeom prst="rect">
            <a:avLst/>
          </a:prstGeom>
          <a:noFill/>
          <a:ln/>
        </p:spPr>
        <p:txBody>
          <a:bodyPr wrap="square" lIns="0" tIns="0" rIns="0" bIns="0" rtlCol="0" anchor="ctr"/>
          <a:lstStyle/>
          <a:p>
            <a:pPr indent="0" marL="0">
              <a:buNone/>
            </a:pPr>
            <a:r>
              <a:rPr lang="en-US" sz="1300" b="1" dirty="0">
                <a:solidFill>
                  <a:schemeClr val="tx1"/>
                </a:solidFill>
              </a:rPr>
              <a:t>OpenStreetMap</a:t>
            </a:r>
            <a:endParaRPr lang="en-US" sz="1300" dirty="0"/>
          </a:p>
        </p:txBody>
      </p:sp>
      <p:sp>
        <p:nvSpPr>
          <p:cNvPr id="14" name="Text 12"/>
          <p:cNvSpPr txBox="1"/>
          <p:nvPr/>
        </p:nvSpPr>
        <p:spPr>
          <a:xfrm>
            <a:off x="6903720" y="1764792"/>
            <a:ext cx="1737360" cy="594360"/>
          </a:xfrm>
          <a:prstGeom prst="rect">
            <a:avLst/>
          </a:prstGeom>
          <a:noFill/>
          <a:ln/>
        </p:spPr>
        <p:txBody>
          <a:bodyPr wrap="square" lIns="0" tIns="0" rIns="0" bIns="0" rtlCol="0" anchor="t"/>
          <a:lstStyle/>
          <a:p>
            <a:pPr indent="0" marL="0">
              <a:buNone/>
            </a:pPr>
            <a:r>
              <a:rPr lang="en-US" sz="1050" dirty="0">
                <a:solidFill>
                  <a:schemeClr val="tx2"/>
                </a:solidFill>
              </a:rPr>
              <a:t>Drains, culverts, water bodies, land use, roads</a:t>
            </a:r>
            <a:endParaRPr lang="en-US" sz="1050" dirty="0"/>
          </a:p>
        </p:txBody>
      </p:sp>
      <p:sp>
        <p:nvSpPr>
          <p:cNvPr id="15" name="src ISRIC SoilGrids"/>
          <p:cNvSpPr/>
          <p:nvPr/>
        </p:nvSpPr>
        <p:spPr>
          <a:xfrm>
            <a:off x="457200" y="2560320"/>
            <a:ext cx="1965960" cy="1280160"/>
          </a:xfrm>
          <a:prstGeom prst="roundRect">
            <a:avLst>
              <a:gd name="adj" fmla="val 5714"/>
            </a:avLst>
          </a:prstGeom>
          <a:solidFill>
            <a:schemeClr val="bg1"/>
          </a:solidFill>
          <a:ln w="12700">
            <a:solidFill>
              <a:schemeClr val="bg1"/>
            </a:solidFill>
            <a:prstDash val="solid"/>
          </a:ln>
          <a:effectLst>
            <a:outerShdw sx="100000" sy="100000" kx="0" ky="0" algn="bl" rotWithShape="0" blurRad="101600" dist="25400" dir="5400000">
              <a:srgbClr val="0B1220">
                <a:alpha val="14000"/>
              </a:srgbClr>
            </a:outerShdw>
          </a:effectLst>
        </p:spPr>
      </p:sp>
      <p:sp>
        <p:nvSpPr>
          <p:cNvPr id="16" name="Text 14"/>
          <p:cNvSpPr txBox="1"/>
          <p:nvPr/>
        </p:nvSpPr>
        <p:spPr>
          <a:xfrm>
            <a:off x="594360" y="2697480"/>
            <a:ext cx="1737360" cy="411480"/>
          </a:xfrm>
          <a:prstGeom prst="rect">
            <a:avLst/>
          </a:prstGeom>
          <a:noFill/>
          <a:ln/>
        </p:spPr>
        <p:txBody>
          <a:bodyPr wrap="square" lIns="0" tIns="0" rIns="0" bIns="0" rtlCol="0" anchor="ctr"/>
          <a:lstStyle/>
          <a:p>
            <a:pPr indent="0" marL="0">
              <a:buNone/>
            </a:pPr>
            <a:r>
              <a:rPr lang="en-US" sz="1300" b="1" dirty="0">
                <a:solidFill>
                  <a:schemeClr val="tx1"/>
                </a:solidFill>
              </a:rPr>
              <a:t>ISRIC SoilGrids</a:t>
            </a:r>
            <a:endParaRPr lang="en-US" sz="1300" dirty="0"/>
          </a:p>
        </p:txBody>
      </p:sp>
      <p:sp>
        <p:nvSpPr>
          <p:cNvPr id="17" name="Text 15"/>
          <p:cNvSpPr txBox="1"/>
          <p:nvPr/>
        </p:nvSpPr>
        <p:spPr>
          <a:xfrm>
            <a:off x="594360" y="3182112"/>
            <a:ext cx="1737360" cy="594360"/>
          </a:xfrm>
          <a:prstGeom prst="rect">
            <a:avLst/>
          </a:prstGeom>
          <a:noFill/>
          <a:ln/>
        </p:spPr>
        <p:txBody>
          <a:bodyPr wrap="square" lIns="0" tIns="0" rIns="0" bIns="0" rtlCol="0" anchor="t"/>
          <a:lstStyle/>
          <a:p>
            <a:pPr indent="0" marL="0">
              <a:buNone/>
            </a:pPr>
            <a:r>
              <a:rPr lang="en-US" sz="1050" dirty="0">
                <a:solidFill>
                  <a:schemeClr val="tx2"/>
                </a:solidFill>
              </a:rPr>
              <a:t>Soil texture and infiltration, 250 m grid</a:t>
            </a:r>
            <a:endParaRPr lang="en-US" sz="1050" dirty="0"/>
          </a:p>
        </p:txBody>
      </p:sp>
      <p:sp>
        <p:nvSpPr>
          <p:cNvPr id="18" name="src India Flood Inventory"/>
          <p:cNvSpPr/>
          <p:nvPr/>
        </p:nvSpPr>
        <p:spPr>
          <a:xfrm>
            <a:off x="2560320" y="2560320"/>
            <a:ext cx="1965960" cy="1280160"/>
          </a:xfrm>
          <a:prstGeom prst="roundRect">
            <a:avLst>
              <a:gd name="adj" fmla="val 5714"/>
            </a:avLst>
          </a:prstGeom>
          <a:solidFill>
            <a:schemeClr val="bg1"/>
          </a:solidFill>
          <a:ln w="12700">
            <a:solidFill>
              <a:schemeClr val="bg1"/>
            </a:solidFill>
            <a:prstDash val="solid"/>
          </a:ln>
          <a:effectLst>
            <a:outerShdw sx="100000" sy="100000" kx="0" ky="0" algn="bl" rotWithShape="0" blurRad="101600" dist="25400" dir="5400000">
              <a:srgbClr val="0B1220">
                <a:alpha val="14000"/>
              </a:srgbClr>
            </a:outerShdw>
          </a:effectLst>
        </p:spPr>
      </p:sp>
      <p:sp>
        <p:nvSpPr>
          <p:cNvPr id="19" name="Text 17"/>
          <p:cNvSpPr txBox="1"/>
          <p:nvPr/>
        </p:nvSpPr>
        <p:spPr>
          <a:xfrm>
            <a:off x="2697480" y="2697480"/>
            <a:ext cx="1737360" cy="411480"/>
          </a:xfrm>
          <a:prstGeom prst="rect">
            <a:avLst/>
          </a:prstGeom>
          <a:noFill/>
          <a:ln/>
        </p:spPr>
        <p:txBody>
          <a:bodyPr wrap="square" lIns="0" tIns="0" rIns="0" bIns="0" rtlCol="0" anchor="ctr"/>
          <a:lstStyle/>
          <a:p>
            <a:pPr indent="0" marL="0">
              <a:buNone/>
            </a:pPr>
            <a:r>
              <a:rPr lang="en-US" sz="1300" b="1" dirty="0">
                <a:solidFill>
                  <a:schemeClr val="tx1"/>
                </a:solidFill>
              </a:rPr>
              <a:t>India Flood Inventory</a:t>
            </a:r>
            <a:endParaRPr lang="en-US" sz="1300" dirty="0"/>
          </a:p>
        </p:txBody>
      </p:sp>
      <p:sp>
        <p:nvSpPr>
          <p:cNvPr id="20" name="Text 18"/>
          <p:cNvSpPr txBox="1"/>
          <p:nvPr/>
        </p:nvSpPr>
        <p:spPr>
          <a:xfrm>
            <a:off x="2697480" y="3182112"/>
            <a:ext cx="1737360" cy="594360"/>
          </a:xfrm>
          <a:prstGeom prst="rect">
            <a:avLst/>
          </a:prstGeom>
          <a:noFill/>
          <a:ln/>
        </p:spPr>
        <p:txBody>
          <a:bodyPr wrap="square" lIns="0" tIns="0" rIns="0" bIns="0" rtlCol="0" anchor="t"/>
          <a:lstStyle/>
          <a:p>
            <a:pPr indent="0" marL="0">
              <a:buNone/>
            </a:pPr>
            <a:r>
              <a:rPr lang="en-US" sz="1050" dirty="0">
                <a:solidFill>
                  <a:schemeClr val="tx2"/>
                </a:solidFill>
              </a:rPr>
              <a:t>IIT Delhi, district floods 1967 to 2023</a:t>
            </a:r>
            <a:endParaRPr lang="en-US" sz="1050" dirty="0"/>
          </a:p>
        </p:txBody>
      </p:sp>
      <p:sp>
        <p:nvSpPr>
          <p:cNvPr id="21" name="src CMWSSB and KSEB"/>
          <p:cNvSpPr/>
          <p:nvPr/>
        </p:nvSpPr>
        <p:spPr>
          <a:xfrm>
            <a:off x="4663440" y="2560320"/>
            <a:ext cx="1965960" cy="1280160"/>
          </a:xfrm>
          <a:prstGeom prst="roundRect">
            <a:avLst>
              <a:gd name="adj" fmla="val 5714"/>
            </a:avLst>
          </a:prstGeom>
          <a:solidFill>
            <a:schemeClr val="bg1"/>
          </a:solidFill>
          <a:ln w="12700">
            <a:solidFill>
              <a:schemeClr val="bg1"/>
            </a:solidFill>
            <a:prstDash val="solid"/>
          </a:ln>
          <a:effectLst>
            <a:outerShdw sx="100000" sy="100000" kx="0" ky="0" algn="bl" rotWithShape="0" blurRad="101600" dist="25400" dir="5400000">
              <a:srgbClr val="0B1220">
                <a:alpha val="14000"/>
              </a:srgbClr>
            </a:outerShdw>
          </a:effectLst>
        </p:spPr>
      </p:sp>
      <p:sp>
        <p:nvSpPr>
          <p:cNvPr id="22" name="Text 20"/>
          <p:cNvSpPr txBox="1"/>
          <p:nvPr/>
        </p:nvSpPr>
        <p:spPr>
          <a:xfrm>
            <a:off x="4800600" y="2697480"/>
            <a:ext cx="1737360" cy="411480"/>
          </a:xfrm>
          <a:prstGeom prst="rect">
            <a:avLst/>
          </a:prstGeom>
          <a:noFill/>
          <a:ln/>
        </p:spPr>
        <p:txBody>
          <a:bodyPr wrap="square" lIns="0" tIns="0" rIns="0" bIns="0" rtlCol="0" anchor="ctr"/>
          <a:lstStyle/>
          <a:p>
            <a:pPr indent="0" marL="0">
              <a:buNone/>
            </a:pPr>
            <a:r>
              <a:rPr lang="en-US" sz="1300" b="1" dirty="0">
                <a:solidFill>
                  <a:schemeClr val="tx1"/>
                </a:solidFill>
              </a:rPr>
              <a:t>CMWSSB and KSEB</a:t>
            </a:r>
            <a:endParaRPr lang="en-US" sz="1300" dirty="0"/>
          </a:p>
        </p:txBody>
      </p:sp>
      <p:sp>
        <p:nvSpPr>
          <p:cNvPr id="23" name="Text 21"/>
          <p:cNvSpPr txBox="1"/>
          <p:nvPr/>
        </p:nvSpPr>
        <p:spPr>
          <a:xfrm>
            <a:off x="4800600" y="3182112"/>
            <a:ext cx="1737360" cy="594360"/>
          </a:xfrm>
          <a:prstGeom prst="rect">
            <a:avLst/>
          </a:prstGeom>
          <a:noFill/>
          <a:ln/>
        </p:spPr>
        <p:txBody>
          <a:bodyPr wrap="square" lIns="0" tIns="0" rIns="0" bIns="0" rtlCol="0" anchor="t"/>
          <a:lstStyle/>
          <a:p>
            <a:pPr indent="0" marL="0">
              <a:buNone/>
            </a:pPr>
            <a:r>
              <a:rPr lang="en-US" sz="1050" dirty="0">
                <a:solidFill>
                  <a:schemeClr val="tx2"/>
                </a:solidFill>
              </a:rPr>
              <a:t>Live reservoir levels scraped daily</a:t>
            </a:r>
            <a:endParaRPr lang="en-US" sz="1050" dirty="0"/>
          </a:p>
        </p:txBody>
      </p:sp>
      <p:sp>
        <p:nvSpPr>
          <p:cNvPr id="24" name="src Nominatim and OSRM"/>
          <p:cNvSpPr/>
          <p:nvPr/>
        </p:nvSpPr>
        <p:spPr>
          <a:xfrm>
            <a:off x="6766560" y="2560320"/>
            <a:ext cx="1965960" cy="1280160"/>
          </a:xfrm>
          <a:prstGeom prst="roundRect">
            <a:avLst>
              <a:gd name="adj" fmla="val 5714"/>
            </a:avLst>
          </a:prstGeom>
          <a:solidFill>
            <a:schemeClr val="bg1"/>
          </a:solidFill>
          <a:ln w="12700">
            <a:solidFill>
              <a:schemeClr val="bg1"/>
            </a:solidFill>
            <a:prstDash val="solid"/>
          </a:ln>
          <a:effectLst>
            <a:outerShdw sx="100000" sy="100000" kx="0" ky="0" algn="bl" rotWithShape="0" blurRad="101600" dist="25400" dir="5400000">
              <a:srgbClr val="0B1220">
                <a:alpha val="14000"/>
              </a:srgbClr>
            </a:outerShdw>
          </a:effectLst>
        </p:spPr>
      </p:sp>
      <p:sp>
        <p:nvSpPr>
          <p:cNvPr id="25" name="Text 23"/>
          <p:cNvSpPr txBox="1"/>
          <p:nvPr/>
        </p:nvSpPr>
        <p:spPr>
          <a:xfrm>
            <a:off x="6903720" y="2697480"/>
            <a:ext cx="1737360" cy="411480"/>
          </a:xfrm>
          <a:prstGeom prst="rect">
            <a:avLst/>
          </a:prstGeom>
          <a:noFill/>
          <a:ln/>
        </p:spPr>
        <p:txBody>
          <a:bodyPr wrap="square" lIns="0" tIns="0" rIns="0" bIns="0" rtlCol="0" anchor="ctr"/>
          <a:lstStyle/>
          <a:p>
            <a:pPr indent="0" marL="0">
              <a:buNone/>
            </a:pPr>
            <a:r>
              <a:rPr lang="en-US" sz="1300" b="1" dirty="0">
                <a:solidFill>
                  <a:schemeClr val="tx1"/>
                </a:solidFill>
              </a:rPr>
              <a:t>Nominatim and OSRM</a:t>
            </a:r>
            <a:endParaRPr lang="en-US" sz="1300" dirty="0"/>
          </a:p>
        </p:txBody>
      </p:sp>
      <p:sp>
        <p:nvSpPr>
          <p:cNvPr id="26" name="Text 24"/>
          <p:cNvSpPr txBox="1"/>
          <p:nvPr/>
        </p:nvSpPr>
        <p:spPr>
          <a:xfrm>
            <a:off x="6903720" y="3182112"/>
            <a:ext cx="1737360" cy="594360"/>
          </a:xfrm>
          <a:prstGeom prst="rect">
            <a:avLst/>
          </a:prstGeom>
          <a:noFill/>
          <a:ln/>
        </p:spPr>
        <p:txBody>
          <a:bodyPr wrap="square" lIns="0" tIns="0" rIns="0" bIns="0" rtlCol="0" anchor="t"/>
          <a:lstStyle/>
          <a:p>
            <a:pPr indent="0" marL="0">
              <a:buNone/>
            </a:pPr>
            <a:r>
              <a:rPr lang="en-US" sz="1050" dirty="0">
                <a:solidFill>
                  <a:schemeClr val="tx2"/>
                </a:solidFill>
              </a:rPr>
              <a:t>Geocoding and long-distance route baseline</a:t>
            </a:r>
            <a:endParaRPr lang="en-US" sz="1050" dirty="0"/>
          </a:p>
        </p:txBody>
      </p:sp>
      <p:sp>
        <p:nvSpPr>
          <p:cNvPr id="27" name="Text 25"/>
          <p:cNvSpPr txBox="1"/>
          <p:nvPr/>
        </p:nvSpPr>
        <p:spPr>
          <a:xfrm>
            <a:off x="457200" y="4023360"/>
            <a:ext cx="914400" cy="457200"/>
          </a:xfrm>
          <a:prstGeom prst="rect">
            <a:avLst/>
          </a:prstGeom>
          <a:noFill/>
          <a:ln/>
        </p:spPr>
        <p:txBody>
          <a:bodyPr wrap="square" lIns="0" tIns="0" rIns="0" bIns="0" rtlCol="0" anchor="ctr"/>
          <a:lstStyle/>
          <a:p>
            <a:pPr indent="0" marL="0">
              <a:buNone/>
            </a:pPr>
            <a:r>
              <a:rPr lang="en-US" sz="2600" b="1" dirty="0">
                <a:solidFill>
                  <a:schemeClr val="accent1"/>
                </a:solidFill>
              </a:rPr>
              <a:t>868k</a:t>
            </a:r>
            <a:endParaRPr lang="en-US" sz="2600" dirty="0"/>
          </a:p>
        </p:txBody>
      </p:sp>
      <p:sp>
        <p:nvSpPr>
          <p:cNvPr id="28" name="Text 26"/>
          <p:cNvSpPr txBox="1"/>
          <p:nvPr/>
        </p:nvSpPr>
        <p:spPr>
          <a:xfrm>
            <a:off x="1371600" y="4023360"/>
            <a:ext cx="1097280" cy="457200"/>
          </a:xfrm>
          <a:prstGeom prst="rect">
            <a:avLst/>
          </a:prstGeom>
          <a:noFill/>
          <a:ln/>
        </p:spPr>
        <p:txBody>
          <a:bodyPr wrap="square" lIns="0" tIns="0" rIns="0" bIns="0" rtlCol="0" anchor="ctr"/>
          <a:lstStyle/>
          <a:p>
            <a:pPr indent="0" marL="0">
              <a:buNone/>
            </a:pPr>
            <a:r>
              <a:rPr lang="en-US" sz="1100" dirty="0">
                <a:solidFill>
                  <a:schemeClr val="tx2"/>
                </a:solidFill>
              </a:rPr>
              <a:t>hourly rows</a:t>
            </a:r>
            <a:endParaRPr lang="en-US" sz="1100" dirty="0"/>
          </a:p>
        </p:txBody>
      </p:sp>
      <p:sp>
        <p:nvSpPr>
          <p:cNvPr id="29" name="Text 27"/>
          <p:cNvSpPr txBox="1"/>
          <p:nvPr/>
        </p:nvSpPr>
        <p:spPr>
          <a:xfrm>
            <a:off x="2560320" y="4023360"/>
            <a:ext cx="914400" cy="457200"/>
          </a:xfrm>
          <a:prstGeom prst="rect">
            <a:avLst/>
          </a:prstGeom>
          <a:noFill/>
          <a:ln/>
        </p:spPr>
        <p:txBody>
          <a:bodyPr wrap="square" lIns="0" tIns="0" rIns="0" bIns="0" rtlCol="0" anchor="ctr"/>
          <a:lstStyle/>
          <a:p>
            <a:pPr indent="0" marL="0">
              <a:buNone/>
            </a:pPr>
            <a:r>
              <a:rPr lang="en-US" sz="2600" b="1" dirty="0">
                <a:solidFill>
                  <a:schemeClr val="accent1"/>
                </a:solidFill>
              </a:rPr>
              <a:t>38k</a:t>
            </a:r>
            <a:endParaRPr lang="en-US" sz="2600" dirty="0"/>
          </a:p>
        </p:txBody>
      </p:sp>
      <p:sp>
        <p:nvSpPr>
          <p:cNvPr id="30" name="Text 28"/>
          <p:cNvSpPr txBox="1"/>
          <p:nvPr/>
        </p:nvSpPr>
        <p:spPr>
          <a:xfrm>
            <a:off x="3474720" y="4023360"/>
            <a:ext cx="1097280" cy="457200"/>
          </a:xfrm>
          <a:prstGeom prst="rect">
            <a:avLst/>
          </a:prstGeom>
          <a:noFill/>
          <a:ln/>
        </p:spPr>
        <p:txBody>
          <a:bodyPr wrap="square" lIns="0" tIns="0" rIns="0" bIns="0" rtlCol="0" anchor="ctr"/>
          <a:lstStyle/>
          <a:p>
            <a:pPr indent="0" marL="0">
              <a:buNone/>
            </a:pPr>
            <a:r>
              <a:rPr lang="en-US" sz="1100" dirty="0">
                <a:solidFill>
                  <a:schemeClr val="tx2"/>
                </a:solidFill>
              </a:rPr>
              <a:t>daily rows</a:t>
            </a:r>
            <a:endParaRPr lang="en-US" sz="1100" dirty="0"/>
          </a:p>
        </p:txBody>
      </p:sp>
      <p:sp>
        <p:nvSpPr>
          <p:cNvPr id="31" name="Text 29"/>
          <p:cNvSpPr txBox="1"/>
          <p:nvPr/>
        </p:nvSpPr>
        <p:spPr>
          <a:xfrm>
            <a:off x="4663440" y="4023360"/>
            <a:ext cx="914400" cy="457200"/>
          </a:xfrm>
          <a:prstGeom prst="rect">
            <a:avLst/>
          </a:prstGeom>
          <a:noFill/>
          <a:ln/>
        </p:spPr>
        <p:txBody>
          <a:bodyPr wrap="square" lIns="0" tIns="0" rIns="0" bIns="0" rtlCol="0" anchor="ctr"/>
          <a:lstStyle/>
          <a:p>
            <a:pPr indent="0" marL="0">
              <a:buNone/>
            </a:pPr>
            <a:r>
              <a:rPr lang="en-US" sz="2600" b="1" dirty="0">
                <a:solidFill>
                  <a:schemeClr val="accent1"/>
                </a:solidFill>
              </a:rPr>
              <a:t>52k</a:t>
            </a:r>
            <a:endParaRPr lang="en-US" sz="2600" dirty="0"/>
          </a:p>
        </p:txBody>
      </p:sp>
      <p:sp>
        <p:nvSpPr>
          <p:cNvPr id="32" name="Text 30"/>
          <p:cNvSpPr txBox="1"/>
          <p:nvPr/>
        </p:nvSpPr>
        <p:spPr>
          <a:xfrm>
            <a:off x="5577840" y="4023360"/>
            <a:ext cx="1097280" cy="457200"/>
          </a:xfrm>
          <a:prstGeom prst="rect">
            <a:avLst/>
          </a:prstGeom>
          <a:noFill/>
          <a:ln/>
        </p:spPr>
        <p:txBody>
          <a:bodyPr wrap="square" lIns="0" tIns="0" rIns="0" bIns="0" rtlCol="0" anchor="ctr"/>
          <a:lstStyle/>
          <a:p>
            <a:pPr indent="0" marL="0">
              <a:buNone/>
            </a:pPr>
            <a:r>
              <a:rPr lang="en-US" sz="1100" dirty="0">
                <a:solidFill>
                  <a:schemeClr val="tx2"/>
                </a:solidFill>
              </a:rPr>
              <a:t>road segments</a:t>
            </a:r>
            <a:endParaRPr lang="en-US" sz="1100" dirty="0"/>
          </a:p>
        </p:txBody>
      </p:sp>
      <p:sp>
        <p:nvSpPr>
          <p:cNvPr id="33" name="Text 31"/>
          <p:cNvSpPr txBox="1"/>
          <p:nvPr/>
        </p:nvSpPr>
        <p:spPr>
          <a:xfrm>
            <a:off x="6766560" y="4023360"/>
            <a:ext cx="914400" cy="457200"/>
          </a:xfrm>
          <a:prstGeom prst="rect">
            <a:avLst/>
          </a:prstGeom>
          <a:noFill/>
          <a:ln/>
        </p:spPr>
        <p:txBody>
          <a:bodyPr wrap="square" lIns="0" tIns="0" rIns="0" bIns="0" rtlCol="0" anchor="ctr"/>
          <a:lstStyle/>
          <a:p>
            <a:pPr indent="0" marL="0">
              <a:buNone/>
            </a:pPr>
            <a:r>
              <a:rPr lang="en-US" sz="2600" b="1" dirty="0">
                <a:solidFill>
                  <a:schemeClr val="accent1"/>
                </a:solidFill>
              </a:rPr>
              <a:t>7</a:t>
            </a:r>
            <a:endParaRPr lang="en-US" sz="2600" dirty="0"/>
          </a:p>
        </p:txBody>
      </p:sp>
      <p:sp>
        <p:nvSpPr>
          <p:cNvPr id="34" name="Text 32"/>
          <p:cNvSpPr txBox="1"/>
          <p:nvPr/>
        </p:nvSpPr>
        <p:spPr>
          <a:xfrm>
            <a:off x="7680960" y="4023360"/>
            <a:ext cx="1097280" cy="457200"/>
          </a:xfrm>
          <a:prstGeom prst="rect">
            <a:avLst/>
          </a:prstGeom>
          <a:noFill/>
          <a:ln/>
        </p:spPr>
        <p:txBody>
          <a:bodyPr wrap="square" lIns="0" tIns="0" rIns="0" bIns="0" rtlCol="0" anchor="ctr"/>
          <a:lstStyle/>
          <a:p>
            <a:pPr indent="0" marL="0">
              <a:buNone/>
            </a:pPr>
            <a:r>
              <a:rPr lang="en-US" sz="1100" dirty="0">
                <a:solidFill>
                  <a:schemeClr val="tx2"/>
                </a:solidFill>
              </a:rPr>
              <a:t>live sites</a:t>
            </a:r>
            <a:endParaRPr lang="en-US" sz="1100" dirty="0"/>
          </a:p>
        </p:txBody>
      </p:sp>
      <p:sp>
        <p:nvSpPr>
          <p:cNvPr id="25" name="Slide Number Placeholder 0"/>
          <p:cNvSpPr>
            <a:spLocks noGrp="1"/>
          </p:cNvSpPr>
          <p:nvPr>
            <p:ph type="sldNum" sz="quarter" idx="4294967295"/>
          </p:nvPr>
        </p:nvSpPr>
        <p:spPr>
          <a:xfrm>
            <a:off x="832104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indent="0" marL="0">
              <a:buNone/>
            </a:pPr>
            <a:r>
              <a:rPr lang="en-US" sz="2800" b="1" dirty="0">
                <a:solidFill>
                  <a:srgbClr val="0B1220"/>
                </a:solidFill>
              </a:rPr>
              <a:t>Ten factors, one explainable impact score</a:t>
            </a:r>
            <a:endParaRPr lang="en-US" sz="2800" dirty="0"/>
          </a:p>
        </p:txBody>
      </p:sp>
      <p:graphicFrame>
        <p:nvGraphicFramePr>
          <p:cNvPr id="3" name="Chart 0" descr=""/>
          <p:cNvGraphicFramePr/>
          <p:nvPr/>
        </p:nvGraphicFramePr>
        <p:xfrm>
          <a:off x="457200" y="1097280"/>
          <a:ext cx="4480560" cy="35661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212080" y="1143000"/>
            <a:ext cx="3474720" cy="320040"/>
          </a:xfrm>
          <a:prstGeom prst="rect">
            <a:avLst/>
          </a:prstGeom>
          <a:noFill/>
          <a:ln/>
        </p:spPr>
        <p:txBody>
          <a:bodyPr wrap="square" lIns="0" tIns="0" rIns="0" bIns="0" rtlCol="0" anchor="t"/>
          <a:lstStyle/>
          <a:p>
            <a:pPr indent="0" marL="0">
              <a:buNone/>
            </a:pPr>
            <a:r>
              <a:rPr lang="en-US" sz="1600" b="1" dirty="0">
                <a:solidFill>
                  <a:schemeClr val="tx1"/>
                </a:solidFill>
              </a:rPr>
              <a:t>What feeds each factor</a:t>
            </a:r>
            <a:endParaRPr lang="en-US" sz="1600" dirty="0"/>
          </a:p>
        </p:txBody>
      </p:sp>
      <p:sp>
        <p:nvSpPr>
          <p:cNvPr id="5" name="Text 2"/>
          <p:cNvSpPr txBox="1"/>
          <p:nvPr/>
        </p:nvSpPr>
        <p:spPr>
          <a:xfrm>
            <a:off x="5212080" y="1554480"/>
            <a:ext cx="3474720" cy="30175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2"/>
                </a:solidFill>
              </a:rPr>
              <a:t>Intensity, duration, storm pattern and probability from the forecast</a:t>
            </a:r>
            <a:endParaRPr lang="en-US" sz="1200" dirty="0"/>
          </a:p>
          <a:p>
            <a:pPr marL="342900" indent="-342900">
              <a:spcAft>
                <a:spcPts val="600"/>
              </a:spcAft>
              <a:buSzPct val="100000"/>
              <a:buChar char="•"/>
            </a:pPr>
            <a:r>
              <a:rPr lang="en-US" sz="1200" dirty="0">
                <a:solidFill>
                  <a:schemeClr val="tx2"/>
                </a:solidFill>
              </a:rPr>
              <a:t>Soil texture, saturation and runoff coefficient from SoilGrids and archive rain</a:t>
            </a:r>
            <a:endParaRPr lang="en-US" sz="1200" dirty="0"/>
          </a:p>
          <a:p>
            <a:pPr marL="342900" indent="-342900">
              <a:spcAft>
                <a:spcPts val="600"/>
              </a:spcAft>
              <a:buSzPct val="100000"/>
              <a:buChar char="•"/>
            </a:pPr>
            <a:r>
              <a:rPr lang="en-US" sz="1200" dirty="0">
                <a:solidFill>
                  <a:schemeClr val="tx2"/>
                </a:solidFill>
              </a:rPr>
              <a:t>Slope, HAND and closed depressions from the terrain grid</a:t>
            </a:r>
            <a:endParaRPr lang="en-US" sz="1200" dirty="0"/>
          </a:p>
          <a:p>
            <a:pPr marL="342900" indent="-342900">
              <a:spcAft>
                <a:spcPts val="600"/>
              </a:spcAft>
              <a:buSzPct val="100000"/>
              <a:buChar char="•"/>
            </a:pPr>
            <a:r>
              <a:rPr lang="en-US" sz="1200" dirty="0">
                <a:solidFill>
                  <a:schemeClr val="tx2"/>
                </a:solidFill>
              </a:rPr>
              <a:t>Mapped drains and culverts, with a seasonal blockage factor</a:t>
            </a:r>
            <a:endParaRPr lang="en-US" sz="1200" dirty="0"/>
          </a:p>
          <a:p>
            <a:pPr marL="342900" indent="-342900">
              <a:spcAft>
                <a:spcPts val="600"/>
              </a:spcAft>
              <a:buSzPct val="100000"/>
              <a:buChar char="•"/>
            </a:pPr>
            <a:r>
              <a:rPr lang="en-US" sz="1200" dirty="0">
                <a:solidFill>
                  <a:schemeClr val="tx2"/>
                </a:solidFill>
              </a:rPr>
              <a:t>Reservoir levels, river proximity and tide stage</a:t>
            </a:r>
            <a:endParaRPr lang="en-US" sz="1200" dirty="0"/>
          </a:p>
          <a:p>
            <a:pPr marL="342900" indent="-342900">
              <a:spcAft>
                <a:spcPts val="600"/>
              </a:spcAft>
              <a:buSzPct val="100000"/>
              <a:buChar char="•"/>
            </a:pPr>
            <a:r>
              <a:rPr lang="en-US" sz="1200" dirty="0">
                <a:solidFill>
                  <a:schemeClr val="tx2"/>
                </a:solidFill>
              </a:rPr>
              <a:t>Population in the cell and return period from 30 years of rain</a:t>
            </a:r>
            <a:endParaRPr lang="en-US" sz="1200" dirty="0"/>
          </a:p>
          <a:p>
            <a:pPr marL="342900" indent="-342900">
              <a:spcAft>
                <a:spcPts val="600"/>
              </a:spcAft>
              <a:buSzPct val="100000"/>
              <a:buChar char="•"/>
            </a:pPr>
            <a:r>
              <a:rPr lang="en-US" sz="1200" dirty="0">
                <a:solidFill>
                  <a:schemeClr val="tx2"/>
                </a:solidFill>
              </a:rPr>
              <a:t>Each factor's share is returned, so every score comes with reasons</a:t>
            </a:r>
            <a:endParaRPr lang="en-US" sz="1200" dirty="0"/>
          </a:p>
        </p:txBody>
      </p:sp>
      <p:sp>
        <p:nvSpPr>
          <p:cNvPr id="25" name="Slide Number Placeholder 0"/>
          <p:cNvSpPr>
            <a:spLocks noGrp="1"/>
          </p:cNvSpPr>
          <p:nvPr>
            <p:ph type="sldNum" sz="quarter" idx="4294967295"/>
          </p:nvPr>
        </p:nvSpPr>
        <p:spPr>
          <a:xfrm>
            <a:off x="832104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indent="0" marL="0">
              <a:buNone/>
            </a:pPr>
            <a:r>
              <a:rPr lang="en-US" sz="2800" b="1" dirty="0">
                <a:solidFill>
                  <a:srgbClr val="0B1220"/>
                </a:solidFill>
              </a:rPr>
              <a:t>Water placed on real terrain</a:t>
            </a:r>
            <a:endParaRPr lang="en-US" sz="2800" dirty="0"/>
          </a:p>
        </p:txBody>
      </p:sp>
      <p:pic>
        <p:nvPicPr>
          <p:cNvPr id="3" name="simulate screenshot" descr="C:\Users\Piyush\AppData\Local\Temp\claude\C--Users-Piyush-OneDrive-Desktop-rainfall-predictor\7052997d-b1d5-47e8-85b7-36d79c80cb7b\scratchpad\shots\simulate.png">    </p:cNvPr>
          <p:cNvPicPr>
            <a:picLocks noChangeAspect="1"/>
          </p:cNvPicPr>
          <p:nvPr/>
        </p:nvPicPr>
        <p:blipFill>
          <a:blip r:embed="rId1"/>
          <a:stretch>
            <a:fillRect/>
          </a:stretch>
        </p:blipFill>
        <p:spPr>
          <a:xfrm>
            <a:off x="457200" y="1143000"/>
            <a:ext cx="4572000" cy="3429000"/>
          </a:xfrm>
          <a:prstGeom prst="rect">
            <a:avLst/>
          </a:prstGeom>
        </p:spPr>
      </p:pic>
      <p:sp>
        <p:nvSpPr>
          <p:cNvPr id="4" name="num 1"/>
          <p:cNvSpPr/>
          <p:nvPr/>
        </p:nvSpPr>
        <p:spPr>
          <a:xfrm>
            <a:off x="5303520" y="1188720"/>
            <a:ext cx="411480" cy="411480"/>
          </a:xfrm>
          <a:prstGeom prst="ellipse">
            <a:avLst/>
          </a:prstGeom>
          <a:solidFill>
            <a:srgbClr val="0E9FB5"/>
          </a:solidFill>
          <a:ln w="12700">
            <a:solidFill>
              <a:srgbClr val="0E9FB5"/>
            </a:solidFill>
            <a:prstDash val="solid"/>
          </a:ln>
        </p:spPr>
      </p:sp>
      <p:sp>
        <p:nvSpPr>
          <p:cNvPr id="5" name="Text 2"/>
          <p:cNvSpPr txBox="1"/>
          <p:nvPr/>
        </p:nvSpPr>
        <p:spPr>
          <a:xfrm>
            <a:off x="5303520" y="118872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3"/>
          <p:cNvSpPr txBox="1"/>
          <p:nvPr/>
        </p:nvSpPr>
        <p:spPr>
          <a:xfrm>
            <a:off x="5852160" y="1170432"/>
            <a:ext cx="2834640" cy="548640"/>
          </a:xfrm>
          <a:prstGeom prst="rect">
            <a:avLst/>
          </a:prstGeom>
          <a:noFill/>
          <a:ln/>
        </p:spPr>
        <p:txBody>
          <a:bodyPr wrap="square" lIns="0" tIns="0" rIns="0" bIns="0" rtlCol="0" anchor="ctr"/>
          <a:lstStyle/>
          <a:p>
            <a:pPr indent="0" marL="0">
              <a:buNone/>
            </a:pPr>
            <a:r>
              <a:rPr lang="en-US" sz="1200" dirty="0">
                <a:solidFill>
                  <a:schemeClr val="tx2"/>
                </a:solidFill>
              </a:rPr>
              <a:t>Fetch a 384 by 384 SRTM grid around the site, 4.6 m cells</a:t>
            </a:r>
            <a:endParaRPr lang="en-US" sz="1200" dirty="0"/>
          </a:p>
        </p:txBody>
      </p:sp>
      <p:sp>
        <p:nvSpPr>
          <p:cNvPr id="7" name="num 2"/>
          <p:cNvSpPr/>
          <p:nvPr/>
        </p:nvSpPr>
        <p:spPr>
          <a:xfrm>
            <a:off x="5303520" y="1865376"/>
            <a:ext cx="411480" cy="411480"/>
          </a:xfrm>
          <a:prstGeom prst="ellipse">
            <a:avLst/>
          </a:prstGeom>
          <a:solidFill>
            <a:srgbClr val="0E9FB5"/>
          </a:solidFill>
          <a:ln w="12700">
            <a:solidFill>
              <a:srgbClr val="0E9FB5"/>
            </a:solidFill>
            <a:prstDash val="solid"/>
          </a:ln>
        </p:spPr>
      </p:sp>
      <p:sp>
        <p:nvSpPr>
          <p:cNvPr id="8" name="Text 5"/>
          <p:cNvSpPr txBox="1"/>
          <p:nvPr/>
        </p:nvSpPr>
        <p:spPr>
          <a:xfrm>
            <a:off x="5303520" y="1865376"/>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9" name="Text 6"/>
          <p:cNvSpPr txBox="1"/>
          <p:nvPr/>
        </p:nvSpPr>
        <p:spPr>
          <a:xfrm>
            <a:off x="5852160" y="1847088"/>
            <a:ext cx="2834640" cy="548640"/>
          </a:xfrm>
          <a:prstGeom prst="rect">
            <a:avLst/>
          </a:prstGeom>
          <a:noFill/>
          <a:ln/>
        </p:spPr>
        <p:txBody>
          <a:bodyPr wrap="square" lIns="0" tIns="0" rIns="0" bIns="0" rtlCol="0" anchor="ctr"/>
          <a:lstStyle/>
          <a:p>
            <a:pPr indent="0" marL="0">
              <a:buNone/>
            </a:pPr>
            <a:r>
              <a:rPr lang="en-US" sz="1200" dirty="0">
                <a:solidFill>
                  <a:schemeClr val="tx2"/>
                </a:solidFill>
              </a:rPr>
              <a:t>Fill depressions with priority-flood, the Barnes algorithm</a:t>
            </a:r>
            <a:endParaRPr lang="en-US" sz="1200" dirty="0"/>
          </a:p>
        </p:txBody>
      </p:sp>
      <p:sp>
        <p:nvSpPr>
          <p:cNvPr id="10" name="num 3"/>
          <p:cNvSpPr/>
          <p:nvPr/>
        </p:nvSpPr>
        <p:spPr>
          <a:xfrm>
            <a:off x="5303520" y="2542032"/>
            <a:ext cx="411480" cy="411480"/>
          </a:xfrm>
          <a:prstGeom prst="ellipse">
            <a:avLst/>
          </a:prstGeom>
          <a:solidFill>
            <a:srgbClr val="0E9FB5"/>
          </a:solidFill>
          <a:ln w="12700">
            <a:solidFill>
              <a:srgbClr val="0E9FB5"/>
            </a:solidFill>
            <a:prstDash val="solid"/>
          </a:ln>
        </p:spPr>
      </p:sp>
      <p:sp>
        <p:nvSpPr>
          <p:cNvPr id="11" name="Text 8"/>
          <p:cNvSpPr txBox="1"/>
          <p:nvPr/>
        </p:nvSpPr>
        <p:spPr>
          <a:xfrm>
            <a:off x="5303520" y="2542032"/>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2" name="Text 9"/>
          <p:cNvSpPr txBox="1"/>
          <p:nvPr/>
        </p:nvSpPr>
        <p:spPr>
          <a:xfrm>
            <a:off x="5852160" y="2523744"/>
            <a:ext cx="2834640" cy="548640"/>
          </a:xfrm>
          <a:prstGeom prst="rect">
            <a:avLst/>
          </a:prstGeom>
          <a:noFill/>
          <a:ln/>
        </p:spPr>
        <p:txBody>
          <a:bodyPr wrap="square" lIns="0" tIns="0" rIns="0" bIns="0" rtlCol="0" anchor="ctr"/>
          <a:lstStyle/>
          <a:p>
            <a:pPr indent="0" marL="0">
              <a:buNone/>
            </a:pPr>
            <a:r>
              <a:rPr lang="en-US" sz="1200" dirty="0">
                <a:solidFill>
                  <a:schemeClr val="tx2"/>
                </a:solidFill>
              </a:rPr>
              <a:t>Runoff minus drainage capacity gives the volume that ponds</a:t>
            </a:r>
            <a:endParaRPr lang="en-US" sz="1200" dirty="0"/>
          </a:p>
        </p:txBody>
      </p:sp>
      <p:sp>
        <p:nvSpPr>
          <p:cNvPr id="13" name="num 4"/>
          <p:cNvSpPr/>
          <p:nvPr/>
        </p:nvSpPr>
        <p:spPr>
          <a:xfrm>
            <a:off x="5303520" y="3218688"/>
            <a:ext cx="411480" cy="411480"/>
          </a:xfrm>
          <a:prstGeom prst="ellipse">
            <a:avLst/>
          </a:prstGeom>
          <a:solidFill>
            <a:srgbClr val="0E9FB5"/>
          </a:solidFill>
          <a:ln w="12700">
            <a:solidFill>
              <a:srgbClr val="0E9FB5"/>
            </a:solidFill>
            <a:prstDash val="solid"/>
          </a:ln>
        </p:spPr>
      </p:sp>
      <p:sp>
        <p:nvSpPr>
          <p:cNvPr id="14" name="Text 11"/>
          <p:cNvSpPr txBox="1"/>
          <p:nvPr/>
        </p:nvSpPr>
        <p:spPr>
          <a:xfrm>
            <a:off x="5303520" y="3218688"/>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5" name="Text 12"/>
          <p:cNvSpPr txBox="1"/>
          <p:nvPr/>
        </p:nvSpPr>
        <p:spPr>
          <a:xfrm>
            <a:off x="5852160" y="3200400"/>
            <a:ext cx="2834640" cy="548640"/>
          </a:xfrm>
          <a:prstGeom prst="rect">
            <a:avLst/>
          </a:prstGeom>
          <a:noFill/>
          <a:ln/>
        </p:spPr>
        <p:txBody>
          <a:bodyPr wrap="square" lIns="0" tIns="0" rIns="0" bIns="0" rtlCol="0" anchor="ctr"/>
          <a:lstStyle/>
          <a:p>
            <a:pPr indent="0" marL="0">
              <a:buNone/>
            </a:pPr>
            <a:r>
              <a:rPr lang="en-US" sz="1200" dirty="0">
                <a:solidFill>
                  <a:schemeClr val="tx2"/>
                </a:solidFill>
              </a:rPr>
              <a:t>Binary-search the water surface that holds that volume</a:t>
            </a:r>
            <a:endParaRPr lang="en-US" sz="1200" dirty="0"/>
          </a:p>
        </p:txBody>
      </p:sp>
      <p:sp>
        <p:nvSpPr>
          <p:cNvPr id="16" name="num 5"/>
          <p:cNvSpPr/>
          <p:nvPr/>
        </p:nvSpPr>
        <p:spPr>
          <a:xfrm>
            <a:off x="5303520" y="3895344"/>
            <a:ext cx="411480" cy="411480"/>
          </a:xfrm>
          <a:prstGeom prst="ellipse">
            <a:avLst/>
          </a:prstGeom>
          <a:solidFill>
            <a:srgbClr val="0E9FB5"/>
          </a:solidFill>
          <a:ln w="12700">
            <a:solidFill>
              <a:srgbClr val="0E9FB5"/>
            </a:solidFill>
            <a:prstDash val="solid"/>
          </a:ln>
        </p:spPr>
      </p:sp>
      <p:sp>
        <p:nvSpPr>
          <p:cNvPr id="17" name="Text 14"/>
          <p:cNvSpPr txBox="1"/>
          <p:nvPr/>
        </p:nvSpPr>
        <p:spPr>
          <a:xfrm>
            <a:off x="5303520" y="3895344"/>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18" name="Text 15"/>
          <p:cNvSpPr txBox="1"/>
          <p:nvPr/>
        </p:nvSpPr>
        <p:spPr>
          <a:xfrm>
            <a:off x="5852160" y="3877056"/>
            <a:ext cx="2834640" cy="548640"/>
          </a:xfrm>
          <a:prstGeom prst="rect">
            <a:avLst/>
          </a:prstGeom>
          <a:noFill/>
          <a:ln/>
        </p:spPr>
        <p:txBody>
          <a:bodyPr wrap="square" lIns="0" tIns="0" rIns="0" bIns="0" rtlCol="0" anchor="ctr"/>
          <a:lstStyle/>
          <a:p>
            <a:pPr indent="0" marL="0">
              <a:buNone/>
            </a:pPr>
            <a:r>
              <a:rPr lang="en-US" sz="1200" dirty="0">
                <a:solidFill>
                  <a:schemeClr val="tx2"/>
                </a:solidFill>
              </a:rPr>
              <a:t>Stitch wet cells into depth polygons for the map</a:t>
            </a:r>
            <a:endParaRPr lang="en-US" sz="1200" dirty="0"/>
          </a:p>
        </p:txBody>
      </p:sp>
      <p:sp>
        <p:nvSpPr>
          <p:cNvPr id="25" name="Slide Number Placeholder 0"/>
          <p:cNvSpPr>
            <a:spLocks noGrp="1"/>
          </p:cNvSpPr>
          <p:nvPr>
            <p:ph type="sldNum" sz="quarter" idx="4294967295"/>
          </p:nvPr>
        </p:nvSpPr>
        <p:spPr>
          <a:xfrm>
            <a:off x="832104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indent="0" marL="0">
              <a:buNone/>
            </a:pPr>
            <a:r>
              <a:rPr lang="en-US" sz="2800" b="1" dirty="0">
                <a:solidFill>
                  <a:srgbClr val="0B1220"/>
                </a:solidFill>
              </a:rPr>
              <a:t>Eight trained models, honest numbers</a:t>
            </a:r>
            <a:endParaRPr lang="en-US" sz="2800" dirty="0"/>
          </a:p>
        </p:txBody>
      </p:sp>
      <p:graphicFrame>
        <p:nvGraphicFramePr>
          <p:cNvPr id="13" name="model table"/>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371600"/>
                <a:gridCol w="1737360"/>
                <a:gridCol w="1920240"/>
                <a:gridCol w="1463040"/>
                <a:gridCol w="1737360"/>
              </a:tblGrid>
              <a:tr h="301752">
                <a:tc>
                  <a:txBody>
                    <a:bodyPr/>
                    <a:lstStyle/>
                    <a:p>
                      <a:pPr indent="0" marL="0">
                        <a:buNone/>
                      </a:pPr>
                      <a:r>
                        <a:rPr lang="en-US" sz="1100" b="1" dirty="0">
                          <a:solidFill>
                            <a:srgbClr val="FFFFFF"/>
                          </a:solidFill>
                        </a:rPr>
                        <a:t>Model</a:t>
                      </a:r>
                      <a:endParaRPr lang="en-US" sz="11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1E293B"/>
                    </a:solidFill>
                  </a:tcPr>
                </a:tc>
                <a:tc>
                  <a:txBody>
                    <a:bodyPr/>
                    <a:lstStyle/>
                    <a:p>
                      <a:pPr indent="0" marL="0">
                        <a:buNone/>
                      </a:pPr>
                      <a:r>
                        <a:rPr lang="en-US" sz="1100" b="1" dirty="0">
                          <a:solidFill>
                            <a:srgbClr val="FFFFFF"/>
                          </a:solidFill>
                        </a:rPr>
                        <a:t>Family</a:t>
                      </a:r>
                      <a:endParaRPr lang="en-US" sz="11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1E293B"/>
                    </a:solidFill>
                  </a:tcPr>
                </a:tc>
                <a:tc>
                  <a:txBody>
                    <a:bodyPr/>
                    <a:lstStyle/>
                    <a:p>
                      <a:pPr indent="0" marL="0">
                        <a:buNone/>
                      </a:pPr>
                      <a:r>
                        <a:rPr lang="en-US" sz="1100" b="1" dirty="0">
                          <a:solidFill>
                            <a:srgbClr val="FFFFFF"/>
                          </a:solidFill>
                        </a:rPr>
                        <a:t>Predicts</a:t>
                      </a:r>
                      <a:endParaRPr lang="en-US" sz="11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1E293B"/>
                    </a:solidFill>
                  </a:tcPr>
                </a:tc>
                <a:tc>
                  <a:txBody>
                    <a:bodyPr/>
                    <a:lstStyle/>
                    <a:p>
                      <a:pPr indent="0" marL="0">
                        <a:buNone/>
                      </a:pPr>
                      <a:r>
                        <a:rPr lang="en-US" sz="1100" b="1" dirty="0">
                          <a:solidFill>
                            <a:srgbClr val="FFFFFF"/>
                          </a:solidFill>
                        </a:rPr>
                        <a:t>Test set</a:t>
                      </a:r>
                      <a:endParaRPr lang="en-US" sz="11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1E293B"/>
                    </a:solidFill>
                  </a:tcPr>
                </a:tc>
                <a:tc>
                  <a:txBody>
                    <a:bodyPr/>
                    <a:lstStyle/>
                    <a:p>
                      <a:pPr indent="0" marL="0">
                        <a:buNone/>
                      </a:pPr>
                      <a:r>
                        <a:rPr lang="en-US" sz="1100" b="1" dirty="0">
                          <a:solidFill>
                            <a:srgbClr val="FFFFFF"/>
                          </a:solidFill>
                        </a:rPr>
                        <a:t>Key metric</a:t>
                      </a:r>
                      <a:endParaRPr lang="en-US" sz="11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1E293B"/>
                    </a:solidFill>
                  </a:tcPr>
                </a:tc>
              </a:tr>
              <a:tr h="301752">
                <a:tc>
                  <a:txBody>
                    <a:bodyPr/>
                    <a:lstStyle/>
                    <a:p>
                      <a:pPr indent="0" marL="0">
                        <a:buNone/>
                      </a:pPr>
                      <a:r>
                        <a:rPr lang="en-US" sz="1100" dirty="0">
                          <a:solidFill>
                            <a:srgbClr val="1E293B"/>
                          </a:solidFill>
                        </a:rPr>
                        <a:t>XGBoost</a:t>
                      </a:r>
                      <a:endParaRPr lang="en-US" sz="11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00" dirty="0">
                          <a:solidFill>
                            <a:srgbClr val="1E293B"/>
                          </a:solidFill>
                        </a:rPr>
                        <a:t>Tabular</a:t>
                      </a:r>
                      <a:endParaRPr lang="en-US" sz="11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00" dirty="0">
                          <a:solidFill>
                            <a:srgbClr val="1E293B"/>
                          </a:solidFill>
                        </a:rPr>
                        <a:t>Next-day rain class</a:t>
                      </a:r>
                      <a:endParaRPr lang="en-US" sz="11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00" dirty="0">
                          <a:solidFill>
                            <a:srgbClr val="1E293B"/>
                          </a:solidFill>
                        </a:rPr>
                        <a:t>Jul to Dec 2025</a:t>
                      </a:r>
                      <a:endParaRPr lang="en-US" sz="11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00" dirty="0">
                          <a:solidFill>
                            <a:srgbClr val="1E293B"/>
                          </a:solidFill>
                        </a:rPr>
                        <a:t>Heavy-rain AUC 0.87</a:t>
                      </a:r>
                      <a:endParaRPr lang="en-US" sz="11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r>
              <a:tr h="301752">
                <a:tc>
                  <a:txBody>
                    <a:bodyPr/>
                    <a:lstStyle/>
                    <a:p>
                      <a:pPr indent="0" marL="0">
                        <a:buNone/>
                      </a:pPr>
                      <a:r>
                        <a:rPr lang="en-US" sz="1100" dirty="0">
                          <a:solidFill>
                            <a:srgbClr val="1E293B"/>
                          </a:solidFill>
                        </a:rPr>
                        <a:t>Random Forest</a:t>
                      </a:r>
                      <a:endParaRPr lang="en-US" sz="11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00" dirty="0">
                          <a:solidFill>
                            <a:srgbClr val="1E293B"/>
                          </a:solidFill>
                        </a:rPr>
                        <a:t>Tabular</a:t>
                      </a:r>
                      <a:endParaRPr lang="en-US" sz="11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00" dirty="0">
                          <a:solidFill>
                            <a:srgbClr val="1E293B"/>
                          </a:solidFill>
                        </a:rPr>
                        <a:t>Next-day rain class</a:t>
                      </a:r>
                      <a:endParaRPr lang="en-US" sz="11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00" dirty="0">
                          <a:solidFill>
                            <a:srgbClr val="1E293B"/>
                          </a:solidFill>
                        </a:rPr>
                        <a:t>Jul to Dec 2025</a:t>
                      </a:r>
                      <a:endParaRPr lang="en-US" sz="11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00" dirty="0">
                          <a:solidFill>
                            <a:srgbClr val="1E293B"/>
                          </a:solidFill>
                        </a:rPr>
                        <a:t>Heavy-rain AUC 0.87</a:t>
                      </a:r>
                      <a:endParaRPr lang="en-US" sz="11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r>
              <a:tr h="301752">
                <a:tc>
                  <a:txBody>
                    <a:bodyPr/>
                    <a:lstStyle/>
                    <a:p>
                      <a:pPr indent="0" marL="0">
                        <a:buNone/>
                      </a:pPr>
                      <a:r>
                        <a:rPr lang="en-US" sz="1100" dirty="0">
                          <a:solidFill>
                            <a:srgbClr val="1E293B"/>
                          </a:solidFill>
                        </a:rPr>
                        <a:t>Gradient Boost</a:t>
                      </a:r>
                      <a:endParaRPr lang="en-US" sz="11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00" dirty="0">
                          <a:solidFill>
                            <a:srgbClr val="1E293B"/>
                          </a:solidFill>
                        </a:rPr>
                        <a:t>Tabular</a:t>
                      </a:r>
                      <a:endParaRPr lang="en-US" sz="11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00" dirty="0">
                          <a:solidFill>
                            <a:srgbClr val="1E293B"/>
                          </a:solidFill>
                        </a:rPr>
                        <a:t>Next-day rain class</a:t>
                      </a:r>
                      <a:endParaRPr lang="en-US" sz="11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00" dirty="0">
                          <a:solidFill>
                            <a:srgbClr val="1E293B"/>
                          </a:solidFill>
                        </a:rPr>
                        <a:t>Jul to Dec 2025</a:t>
                      </a:r>
                      <a:endParaRPr lang="en-US" sz="11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00" dirty="0">
                          <a:solidFill>
                            <a:srgbClr val="1E293B"/>
                          </a:solidFill>
                        </a:rPr>
                        <a:t>Heavy-rain AUC 0.85</a:t>
                      </a:r>
                      <a:endParaRPr lang="en-US" sz="11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r>
              <a:tr h="301752">
                <a:tc>
                  <a:txBody>
                    <a:bodyPr/>
                    <a:lstStyle/>
                    <a:p>
                      <a:pPr indent="0" marL="0">
                        <a:buNone/>
                      </a:pPr>
                      <a:r>
                        <a:rPr lang="en-US" sz="1100" dirty="0">
                          <a:solidFill>
                            <a:srgbClr val="1E293B"/>
                          </a:solidFill>
                        </a:rPr>
                        <a:t>Ensemble Vote</a:t>
                      </a:r>
                      <a:endParaRPr lang="en-US" sz="11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00" dirty="0">
                          <a:solidFill>
                            <a:srgbClr val="1E293B"/>
                          </a:solidFill>
                        </a:rPr>
                        <a:t>Weighted soft vote</a:t>
                      </a:r>
                      <a:endParaRPr lang="en-US" sz="11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00" dirty="0">
                          <a:solidFill>
                            <a:srgbClr val="1E293B"/>
                          </a:solidFill>
                        </a:rPr>
                        <a:t>Next-day rain class</a:t>
                      </a:r>
                      <a:endParaRPr lang="en-US" sz="11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00" dirty="0">
                          <a:solidFill>
                            <a:srgbClr val="1E293B"/>
                          </a:solidFill>
                        </a:rPr>
                        <a:t>Jul to Dec 2025</a:t>
                      </a:r>
                      <a:endParaRPr lang="en-US" sz="11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00" dirty="0">
                          <a:solidFill>
                            <a:srgbClr val="1E293B"/>
                          </a:solidFill>
                        </a:rPr>
                        <a:t>Heavy-rain AUC 0.87</a:t>
                      </a:r>
                      <a:endParaRPr lang="en-US" sz="11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r>
              <a:tr h="301752">
                <a:tc>
                  <a:txBody>
                    <a:bodyPr/>
                    <a:lstStyle/>
                    <a:p>
                      <a:pPr indent="0" marL="0">
                        <a:buNone/>
                      </a:pPr>
                      <a:r>
                        <a:rPr lang="en-US" sz="1100" dirty="0">
                          <a:solidFill>
                            <a:srgbClr val="1E293B"/>
                          </a:solidFill>
                        </a:rPr>
                        <a:t>LSTM-Impact</a:t>
                      </a:r>
                      <a:endParaRPr lang="en-US" sz="11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00" dirty="0">
                          <a:solidFill>
                            <a:srgbClr val="1E293B"/>
                          </a:solidFill>
                        </a:rPr>
                        <a:t>Sequence, 48 h in</a:t>
                      </a:r>
                      <a:endParaRPr lang="en-US" sz="11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00" dirty="0">
                          <a:solidFill>
                            <a:srgbClr val="1E293B"/>
                          </a:solidFill>
                        </a:rPr>
                        <a:t>Next 6 h rain class</a:t>
                      </a:r>
                      <a:endParaRPr lang="en-US" sz="11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00" dirty="0">
                          <a:solidFill>
                            <a:srgbClr val="1E293B"/>
                          </a:solidFill>
                        </a:rPr>
                        <a:t>79k windows</a:t>
                      </a:r>
                      <a:endParaRPr lang="en-US" sz="11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00" dirty="0">
                          <a:solidFill>
                            <a:srgbClr val="1E293B"/>
                          </a:solidFill>
                        </a:rPr>
                        <a:t>Heavy-rain AUC 0.88</a:t>
                      </a:r>
                      <a:endParaRPr lang="en-US" sz="11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r>
              <a:tr h="301752">
                <a:tc>
                  <a:txBody>
                    <a:bodyPr/>
                    <a:lstStyle/>
                    <a:p>
                      <a:pPr indent="0" marL="0">
                        <a:buNone/>
                      </a:pPr>
                      <a:r>
                        <a:rPr lang="en-US" sz="1100" dirty="0">
                          <a:solidFill>
                            <a:srgbClr val="1E293B"/>
                          </a:solidFill>
                        </a:rPr>
                        <a:t>Transformer</a:t>
                      </a:r>
                      <a:endParaRPr lang="en-US" sz="11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00" dirty="0">
                          <a:solidFill>
                            <a:srgbClr val="1E293B"/>
                          </a:solidFill>
                        </a:rPr>
                        <a:t>Sequence, 48 h in</a:t>
                      </a:r>
                      <a:endParaRPr lang="en-US" sz="11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00" dirty="0">
                          <a:solidFill>
                            <a:srgbClr val="1E293B"/>
                          </a:solidFill>
                        </a:rPr>
                        <a:t>Next 6 h rain class</a:t>
                      </a:r>
                      <a:endParaRPr lang="en-US" sz="11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00" dirty="0">
                          <a:solidFill>
                            <a:srgbClr val="1E293B"/>
                          </a:solidFill>
                        </a:rPr>
                        <a:t>79k windows</a:t>
                      </a:r>
                      <a:endParaRPr lang="en-US" sz="11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00" dirty="0">
                          <a:solidFill>
                            <a:srgbClr val="1E293B"/>
                          </a:solidFill>
                        </a:rPr>
                        <a:t>Heavy-rain AUC 0.88</a:t>
                      </a:r>
                      <a:endParaRPr lang="en-US" sz="11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r>
              <a:tr h="301752">
                <a:tc>
                  <a:txBody>
                    <a:bodyPr/>
                    <a:lstStyle/>
                    <a:p>
                      <a:pPr indent="0" marL="0">
                        <a:buNone/>
                      </a:pPr>
                      <a:r>
                        <a:rPr lang="en-US" sz="1100" dirty="0">
                          <a:solidFill>
                            <a:srgbClr val="1E293B"/>
                          </a:solidFill>
                        </a:rPr>
                        <a:t>ConvLSTM</a:t>
                      </a:r>
                      <a:endParaRPr lang="en-US" sz="11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00" dirty="0">
                          <a:solidFill>
                            <a:srgbClr val="1E293B"/>
                          </a:solidFill>
                        </a:rPr>
                        <a:t>Spatial, 12 frames in</a:t>
                      </a:r>
                      <a:endParaRPr lang="en-US" sz="11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00" dirty="0">
                          <a:solidFill>
                            <a:srgbClr val="1E293B"/>
                          </a:solidFill>
                        </a:rPr>
                        <a:t>Next 6 h rain grid</a:t>
                      </a:r>
                      <a:endParaRPr lang="en-US" sz="11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00" dirty="0">
                          <a:solidFill>
                            <a:srgbClr val="1E293B"/>
                          </a:solidFill>
                        </a:rPr>
                        <a:t>Nov 2024 to Fengal</a:t>
                      </a:r>
                      <a:endParaRPr lang="en-US" sz="11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00" dirty="0">
                          <a:solidFill>
                            <a:srgbClr val="1E293B"/>
                          </a:solidFill>
                        </a:rPr>
                        <a:t>CSI 5 mm 0.44 vs 0.35</a:t>
                      </a:r>
                      <a:endParaRPr lang="en-US" sz="11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r>
              <a:tr h="301752">
                <a:tc>
                  <a:txBody>
                    <a:bodyPr/>
                    <a:lstStyle/>
                    <a:p>
                      <a:pPr indent="0" marL="0">
                        <a:buNone/>
                      </a:pPr>
                      <a:r>
                        <a:rPr lang="en-US" sz="1100" dirty="0">
                          <a:solidFill>
                            <a:srgbClr val="1E293B"/>
                          </a:solidFill>
                        </a:rPr>
                        <a:t>ConvGRU</a:t>
                      </a:r>
                      <a:endParaRPr lang="en-US" sz="11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00" dirty="0">
                          <a:solidFill>
                            <a:srgbClr val="1E293B"/>
                          </a:solidFill>
                        </a:rPr>
                        <a:t>Spatial, 12 frames in</a:t>
                      </a:r>
                      <a:endParaRPr lang="en-US" sz="11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00" dirty="0">
                          <a:solidFill>
                            <a:srgbClr val="1E293B"/>
                          </a:solidFill>
                        </a:rPr>
                        <a:t>Next 6 h rain grid</a:t>
                      </a:r>
                      <a:endParaRPr lang="en-US" sz="11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00" dirty="0">
                          <a:solidFill>
                            <a:srgbClr val="1E293B"/>
                          </a:solidFill>
                        </a:rPr>
                        <a:t>Nov 2024 to Fengal</a:t>
                      </a:r>
                      <a:endParaRPr lang="en-US" sz="11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00" dirty="0">
                          <a:solidFill>
                            <a:srgbClr val="1E293B"/>
                          </a:solidFill>
                        </a:rPr>
                        <a:t>CSI 5 mm 0.43 vs 0.35</a:t>
                      </a:r>
                      <a:endParaRPr lang="en-US" sz="11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r>
              <a:tr h="301752">
                <a:tc>
                  <a:txBody>
                    <a:bodyPr/>
                    <a:lstStyle/>
                    <a:p>
                      <a:pPr indent="0" marL="0">
                        <a:buNone/>
                      </a:pPr>
                      <a:r>
                        <a:rPr lang="en-US" sz="1100" dirty="0">
                          <a:solidFill>
                            <a:srgbClr val="1E293B"/>
                          </a:solidFill>
                        </a:rPr>
                        <a:t>Road risk</a:t>
                      </a:r>
                      <a:endParaRPr lang="en-US" sz="11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00" dirty="0">
                          <a:solidFill>
                            <a:srgbClr val="1E293B"/>
                          </a:solidFill>
                        </a:rPr>
                        <a:t>XGBoost surrogate</a:t>
                      </a:r>
                      <a:endParaRPr lang="en-US" sz="11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00" dirty="0">
                          <a:solidFill>
                            <a:srgbClr val="1E293B"/>
                          </a:solidFill>
                        </a:rPr>
                        <a:t>Segment open / caution / closed</a:t>
                      </a:r>
                      <a:endParaRPr lang="en-US" sz="11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00" dirty="0">
                          <a:solidFill>
                            <a:srgbClr val="1E293B"/>
                          </a:solidFill>
                        </a:rPr>
                        <a:t>Held-out city</a:t>
                      </a:r>
                      <a:endParaRPr lang="en-US" sz="11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00" dirty="0">
                          <a:solidFill>
                            <a:srgbClr val="1E293B"/>
                          </a:solidFill>
                        </a:rPr>
                        <a:t>Closed recall 0.94</a:t>
                      </a:r>
                      <a:endParaRPr lang="en-US" sz="11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r>
            </a:tbl>
          </a:graphicData>
        </a:graphic>
      </p:graphicFrame>
      <p:sp>
        <p:nvSpPr>
          <p:cNvPr id="4" name="Text 1"/>
          <p:cNvSpPr txBox="1"/>
          <p:nvPr/>
        </p:nvSpPr>
        <p:spPr>
          <a:xfrm>
            <a:off x="457200" y="4297680"/>
            <a:ext cx="8229600" cy="365760"/>
          </a:xfrm>
          <a:prstGeom prst="rect">
            <a:avLst/>
          </a:prstGeom>
          <a:noFill/>
          <a:ln/>
        </p:spPr>
        <p:txBody>
          <a:bodyPr wrap="square" lIns="0" tIns="0" rIns="0" bIns="0" rtlCol="0" anchor="t"/>
          <a:lstStyle/>
          <a:p>
            <a:pPr indent="0" marL="0">
              <a:buNone/>
            </a:pPr>
            <a:r>
              <a:rPr lang="en-US" sz="1100" i="1" dirty="0">
                <a:solidFill>
                  <a:schemeClr val="accent5"/>
                </a:solidFill>
              </a:rPr>
              <a:t>All splits are chronological or by whole site. No random cross-validation. SHAP TreeExplainer serves attributions for the tree models.</a:t>
            </a:r>
            <a:endParaRPr lang="en-US" sz="1100" dirty="0"/>
          </a:p>
        </p:txBody>
      </p:sp>
      <p:sp>
        <p:nvSpPr>
          <p:cNvPr id="25" name="Slide Number Placeholder 0"/>
          <p:cNvSpPr>
            <a:spLocks noGrp="1"/>
          </p:cNvSpPr>
          <p:nvPr>
            <p:ph type="sldNum" sz="quarter" idx="4294967295"/>
          </p:nvPr>
        </p:nvSpPr>
        <p:spPr>
          <a:xfrm>
            <a:off x="832104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indent="0" marL="0">
              <a:buNone/>
            </a:pPr>
            <a:r>
              <a:rPr lang="en-US" sz="2800" b="1" dirty="0">
                <a:solidFill>
                  <a:srgbClr val="0B1220"/>
                </a:solidFill>
              </a:rPr>
              <a:t>Heavy-rain skill across model families</a:t>
            </a:r>
            <a:endParaRPr lang="en-US" sz="2800" dirty="0"/>
          </a:p>
        </p:txBody>
      </p:sp>
      <p:graphicFrame>
        <p:nvGraphicFramePr>
          <p:cNvPr id="3" name="Chart 0" descr=""/>
          <p:cNvGraphicFramePr/>
          <p:nvPr/>
        </p:nvGraphicFramePr>
        <p:xfrm>
          <a:off x="457200" y="1097280"/>
          <a:ext cx="5120640" cy="3474720"/>
        </p:xfrm>
        <a:graphic xmlns:a="http://schemas.openxmlformats.org/drawingml/2006/main">
          <a:graphicData uri="http://schemas.openxmlformats.org/drawingml/2006/chart">
            <c:chart xmlns:c="http://schemas.openxmlformats.org/drawingml/2006/chart" r:id="rId1"/>
          </a:graphicData>
        </a:graphic>
      </p:graphicFrame>
      <p:sp>
        <p:nvSpPr>
          <p:cNvPr id="4" name="auc commentary"/>
          <p:cNvSpPr/>
          <p:nvPr/>
        </p:nvSpPr>
        <p:spPr>
          <a:xfrm>
            <a:off x="5852160" y="1143000"/>
            <a:ext cx="2834640" cy="3429000"/>
          </a:xfrm>
          <a:prstGeom prst="roundRect">
            <a:avLst>
              <a:gd name="adj" fmla="val 2581"/>
            </a:avLst>
          </a:prstGeom>
          <a:solidFill>
            <a:schemeClr val="bg1"/>
          </a:solidFill>
          <a:ln w="12700">
            <a:solidFill>
              <a:schemeClr val="bg1"/>
            </a:solidFill>
            <a:prstDash val="solid"/>
          </a:ln>
          <a:effectLst>
            <a:outerShdw sx="100000" sy="100000" kx="0" ky="0" algn="bl" rotWithShape="0" blurRad="101600" dist="25400" dir="5400000">
              <a:srgbClr val="0B1220">
                <a:alpha val="14000"/>
              </a:srgbClr>
            </a:outerShdw>
          </a:effectLst>
        </p:spPr>
      </p:sp>
      <p:sp>
        <p:nvSpPr>
          <p:cNvPr id="5" name="Text 2"/>
          <p:cNvSpPr txBox="1"/>
          <p:nvPr/>
        </p:nvSpPr>
        <p:spPr>
          <a:xfrm>
            <a:off x="6080760" y="1325880"/>
            <a:ext cx="2377440" cy="320040"/>
          </a:xfrm>
          <a:prstGeom prst="rect">
            <a:avLst/>
          </a:prstGeom>
          <a:noFill/>
          <a:ln/>
        </p:spPr>
        <p:txBody>
          <a:bodyPr wrap="square" lIns="0" tIns="0" rIns="0" bIns="0" rtlCol="0" anchor="t"/>
          <a:lstStyle/>
          <a:p>
            <a:pPr indent="0" marL="0">
              <a:buNone/>
            </a:pPr>
            <a:r>
              <a:rPr lang="en-US" sz="1600" b="1" dirty="0">
                <a:solidFill>
                  <a:schemeClr val="tx1"/>
                </a:solidFill>
              </a:rPr>
              <a:t>How to read this</a:t>
            </a:r>
            <a:endParaRPr lang="en-US" sz="1600" dirty="0"/>
          </a:p>
        </p:txBody>
      </p:sp>
      <p:sp>
        <p:nvSpPr>
          <p:cNvPr id="6" name="Text 3"/>
          <p:cNvSpPr txBox="1"/>
          <p:nvPr/>
        </p:nvSpPr>
        <p:spPr>
          <a:xfrm>
            <a:off x="6080760" y="1737360"/>
            <a:ext cx="2377440" cy="274320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chemeClr val="tx2"/>
                </a:solidFill>
              </a:rPr>
              <a:t>AUC measures how well each model separates heavy-rain days from the rest</a:t>
            </a:r>
            <a:endParaRPr lang="en-US" sz="1150" dirty="0"/>
          </a:p>
          <a:p>
            <a:pPr marL="342900" indent="-342900">
              <a:spcAft>
                <a:spcPts val="600"/>
              </a:spcAft>
              <a:buSzPct val="100000"/>
              <a:buChar char="•"/>
            </a:pPr>
            <a:r>
              <a:rPr lang="en-US" sz="1150" dirty="0">
                <a:solidFill>
                  <a:schemeClr val="tx2"/>
                </a:solidFill>
              </a:rPr>
              <a:t>Macro F1 is around 0.43 for all of them. The extreme class has about 70 test days, so every model struggles there</a:t>
            </a:r>
            <a:endParaRPr lang="en-US" sz="1150" dirty="0"/>
          </a:p>
          <a:p>
            <a:pPr marL="342900" indent="-342900">
              <a:spcAft>
                <a:spcPts val="600"/>
              </a:spcAft>
              <a:buSzPct val="100000"/>
              <a:buChar char="•"/>
            </a:pPr>
            <a:r>
              <a:rPr lang="en-US" sz="1150" dirty="0">
                <a:solidFill>
                  <a:schemeClr val="tx2"/>
                </a:solidFill>
              </a:rPr>
              <a:t>Safe-class F1 is 0.84 to 0.95. The system is good at saying when it is safe</a:t>
            </a:r>
            <a:endParaRPr lang="en-US" sz="1150" dirty="0"/>
          </a:p>
          <a:p>
            <a:pPr marL="342900" indent="-342900">
              <a:spcAft>
                <a:spcPts val="600"/>
              </a:spcAft>
              <a:buSzPct val="100000"/>
              <a:buChar char="•"/>
            </a:pPr>
            <a:r>
              <a:rPr lang="en-US" sz="1150" dirty="0">
                <a:solidFill>
                  <a:schemeClr val="tx2"/>
                </a:solidFill>
              </a:rPr>
              <a:t>The deep models do not beat the trees on this data. Thirty-six point stations at daily resolution favour tree models</a:t>
            </a:r>
            <a:endParaRPr lang="en-US" sz="1150" dirty="0"/>
          </a:p>
        </p:txBody>
      </p:sp>
      <p:sp>
        <p:nvSpPr>
          <p:cNvPr id="25" name="Slide Number Placeholder 0"/>
          <p:cNvSpPr>
            <a:spLocks noGrp="1"/>
          </p:cNvSpPr>
          <p:nvPr>
            <p:ph type="sldNum" sz="quarter" idx="4294967295"/>
          </p:nvPr>
        </p:nvSpPr>
        <p:spPr>
          <a:xfrm>
            <a:off x="832104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indent="0" marL="0">
              <a:buNone/>
            </a:pPr>
            <a:r>
              <a:rPr lang="en-US" sz="2800" b="1" dirty="0">
                <a:solidFill>
                  <a:srgbClr val="0B1220"/>
                </a:solidFill>
              </a:rPr>
              <a:t>Nowcast beats persistence at 1 and 5 mm</a:t>
            </a:r>
            <a:endParaRPr lang="en-US" sz="2800" dirty="0"/>
          </a:p>
        </p:txBody>
      </p:sp>
      <p:graphicFrame>
        <p:nvGraphicFramePr>
          <p:cNvPr id="3" name="Chart 0" descr=""/>
          <p:cNvGraphicFramePr/>
          <p:nvPr/>
        </p:nvGraphicFramePr>
        <p:xfrm>
          <a:off x="457200" y="1097280"/>
          <a:ext cx="5120640" cy="3474720"/>
        </p:xfrm>
        <a:graphic xmlns:a="http://schemas.openxmlformats.org/drawingml/2006/main">
          <a:graphicData uri="http://schemas.openxmlformats.org/drawingml/2006/chart">
            <c:chart xmlns:c="http://schemas.openxmlformats.org/drawingml/2006/chart" r:id="rId1"/>
          </a:graphicData>
        </a:graphic>
      </p:graphicFrame>
      <p:sp>
        <p:nvSpPr>
          <p:cNvPr id="4" name="nowcast commentary"/>
          <p:cNvSpPr/>
          <p:nvPr/>
        </p:nvSpPr>
        <p:spPr>
          <a:xfrm>
            <a:off x="5852160" y="1143000"/>
            <a:ext cx="2834640" cy="3429000"/>
          </a:xfrm>
          <a:prstGeom prst="roundRect">
            <a:avLst>
              <a:gd name="adj" fmla="val 2581"/>
            </a:avLst>
          </a:prstGeom>
          <a:solidFill>
            <a:schemeClr val="bg1"/>
          </a:solidFill>
          <a:ln w="12700">
            <a:solidFill>
              <a:schemeClr val="bg1"/>
            </a:solidFill>
            <a:prstDash val="solid"/>
          </a:ln>
          <a:effectLst>
            <a:outerShdw sx="100000" sy="100000" kx="0" ky="0" algn="bl" rotWithShape="0" blurRad="101600" dist="25400" dir="5400000">
              <a:srgbClr val="0B1220">
                <a:alpha val="14000"/>
              </a:srgbClr>
            </a:outerShdw>
          </a:effectLst>
        </p:spPr>
      </p:sp>
      <p:sp>
        <p:nvSpPr>
          <p:cNvPr id="5" name="Text 2"/>
          <p:cNvSpPr txBox="1"/>
          <p:nvPr/>
        </p:nvSpPr>
        <p:spPr>
          <a:xfrm>
            <a:off x="6080760" y="1325880"/>
            <a:ext cx="2377440" cy="320040"/>
          </a:xfrm>
          <a:prstGeom prst="rect">
            <a:avLst/>
          </a:prstGeom>
          <a:noFill/>
          <a:ln/>
        </p:spPr>
        <p:txBody>
          <a:bodyPr wrap="square" lIns="0" tIns="0" rIns="0" bIns="0" rtlCol="0" anchor="t"/>
          <a:lstStyle/>
          <a:p>
            <a:pPr indent="0" marL="0">
              <a:buNone/>
            </a:pPr>
            <a:r>
              <a:rPr lang="en-US" sz="1600" b="1" dirty="0">
                <a:solidFill>
                  <a:schemeClr val="tx1"/>
                </a:solidFill>
              </a:rPr>
              <a:t>Setup</a:t>
            </a:r>
            <a:endParaRPr lang="en-US" sz="1600" dirty="0"/>
          </a:p>
        </p:txBody>
      </p:sp>
      <p:sp>
        <p:nvSpPr>
          <p:cNvPr id="6" name="Text 3"/>
          <p:cNvSpPr txBox="1"/>
          <p:nvPr/>
        </p:nvSpPr>
        <p:spPr>
          <a:xfrm>
            <a:off x="6080760" y="1737360"/>
            <a:ext cx="2377440" cy="274320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chemeClr val="tx2"/>
                </a:solidFill>
              </a:rPr>
              <a:t>11 by 11 grid at 0.25 degrees over northern Tamil Nadu, hourly through 2024</a:t>
            </a:r>
            <a:endParaRPr lang="en-US" sz="1150" dirty="0"/>
          </a:p>
          <a:p>
            <a:pPr marL="342900" indent="-342900">
              <a:spcAft>
                <a:spcPts val="600"/>
              </a:spcAft>
              <a:buSzPct val="100000"/>
              <a:buChar char="•"/>
            </a:pPr>
            <a:r>
              <a:rPr lang="en-US" sz="1150" dirty="0">
                <a:solidFill>
                  <a:schemeClr val="tx2"/>
                </a:solidFill>
              </a:rPr>
              <a:t>Input: last 12 frames. Output: rain in the next 6 hours at every cell</a:t>
            </a:r>
            <a:endParaRPr lang="en-US" sz="1150" dirty="0"/>
          </a:p>
          <a:p>
            <a:pPr marL="342900" indent="-342900">
              <a:spcAft>
                <a:spcPts val="600"/>
              </a:spcAft>
              <a:buSzPct val="100000"/>
              <a:buChar char="•"/>
            </a:pPr>
            <a:r>
              <a:rPr lang="en-US" sz="1150" dirty="0">
                <a:solidFill>
                  <a:schemeClr val="tx2"/>
                </a:solidFill>
              </a:rPr>
              <a:t>Tested on November 2024 through Cyclone Fengal, the wettest block</a:t>
            </a:r>
            <a:endParaRPr lang="en-US" sz="1150" dirty="0"/>
          </a:p>
          <a:p>
            <a:pPr marL="342900" indent="-342900">
              <a:spcAft>
                <a:spcPts val="600"/>
              </a:spcAft>
              <a:buSzPct val="100000"/>
              <a:buChar char="•"/>
            </a:pPr>
            <a:r>
              <a:rPr lang="en-US" sz="1150" dirty="0">
                <a:solidFill>
                  <a:schemeClr val="tx2"/>
                </a:solidFill>
              </a:rPr>
              <a:t>RMSE 5.7 mm against 6.8 for persistence</a:t>
            </a:r>
            <a:endParaRPr lang="en-US" sz="1150" dirty="0"/>
          </a:p>
          <a:p>
            <a:pPr marL="342900" indent="-342900">
              <a:spcAft>
                <a:spcPts val="600"/>
              </a:spcAft>
              <a:buSzPct val="100000"/>
              <a:buChar char="•"/>
            </a:pPr>
            <a:r>
              <a:rPr lang="en-US" sz="1150" dirty="0">
                <a:solidFill>
                  <a:schemeClr val="tx2"/>
                </a:solidFill>
              </a:rPr>
              <a:t>Loses at 20 mm because the reanalysis grid smooths convective cores. IMERG satellite frames are the fix</a:t>
            </a:r>
            <a:endParaRPr lang="en-US" sz="1150" dirty="0"/>
          </a:p>
        </p:txBody>
      </p:sp>
      <p:sp>
        <p:nvSpPr>
          <p:cNvPr id="25" name="Slide Number Placeholder 0"/>
          <p:cNvSpPr>
            <a:spLocks noGrp="1"/>
          </p:cNvSpPr>
          <p:nvPr>
            <p:ph type="sldNum" sz="quarter" idx="4294967295"/>
          </p:nvPr>
        </p:nvSpPr>
        <p:spPr>
          <a:xfrm>
            <a:off x="832104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indent="0" marL="0">
              <a:buNone/>
            </a:pPr>
            <a:r>
              <a:rPr lang="en-US" sz="2800" b="1" dirty="0">
                <a:solidFill>
                  <a:srgbClr val="0B1220"/>
                </a:solidFill>
              </a:rPr>
              <a:t>Explainable by design</a:t>
            </a:r>
            <a:endParaRPr lang="en-US" sz="2800" dirty="0"/>
          </a:p>
        </p:txBody>
      </p:sp>
      <p:graphicFrame>
        <p:nvGraphicFramePr>
          <p:cNvPr id="3" name="Chart 0" descr=""/>
          <p:cNvGraphicFramePr/>
          <p:nvPr/>
        </p:nvGraphicFramePr>
        <p:xfrm>
          <a:off x="457200" y="1097280"/>
          <a:ext cx="4754880" cy="34747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457200" y="4572000"/>
            <a:ext cx="4754880" cy="228600"/>
          </a:xfrm>
          <a:prstGeom prst="rect">
            <a:avLst/>
          </a:prstGeom>
          <a:noFill/>
          <a:ln/>
        </p:spPr>
        <p:txBody>
          <a:bodyPr wrap="square" lIns="0" tIns="0" rIns="0" bIns="0" rtlCol="0" anchor="t"/>
          <a:lstStyle/>
          <a:p>
            <a:pPr indent="0" marL="0">
              <a:buNone/>
            </a:pPr>
            <a:r>
              <a:rPr lang="en-US" sz="900" dirty="0">
                <a:solidFill>
                  <a:schemeClr val="accent5"/>
                </a:solidFill>
              </a:rPr>
              <a:t>XGBoost feature importance, next-day model</a:t>
            </a:r>
            <a:endParaRPr lang="en-US" sz="900" dirty="0"/>
          </a:p>
        </p:txBody>
      </p:sp>
      <p:sp>
        <p:nvSpPr>
          <p:cNvPr id="5" name="Text 2"/>
          <p:cNvSpPr txBox="1"/>
          <p:nvPr/>
        </p:nvSpPr>
        <p:spPr>
          <a:xfrm>
            <a:off x="5486400" y="1234440"/>
            <a:ext cx="3200400" cy="960120"/>
          </a:xfrm>
          <a:prstGeom prst="rect">
            <a:avLst/>
          </a:prstGeom>
          <a:noFill/>
          <a:ln/>
        </p:spPr>
        <p:txBody>
          <a:bodyPr wrap="square" lIns="0" tIns="0" rIns="0" bIns="0" rtlCol="0" anchor="t"/>
          <a:lstStyle/>
          <a:p>
            <a:pPr indent="0" marL="0">
              <a:buNone/>
            </a:pPr>
            <a:r>
              <a:rPr lang="en-US" sz="1250" dirty="0">
                <a:solidFill>
                  <a:schemeClr val="tx2"/>
                </a:solidFill>
              </a:rPr>
              <a:t>SHAP TreeExplainer runs on every tree-model prediction and returns per-feature attributions for the district</a:t>
            </a:r>
            <a:endParaRPr lang="en-US" sz="1250" dirty="0"/>
          </a:p>
        </p:txBody>
      </p:sp>
      <p:sp>
        <p:nvSpPr>
          <p:cNvPr id="6" name="Text 3"/>
          <p:cNvSpPr txBox="1"/>
          <p:nvPr/>
        </p:nvSpPr>
        <p:spPr>
          <a:xfrm>
            <a:off x="5486400" y="2331720"/>
            <a:ext cx="3200400" cy="960120"/>
          </a:xfrm>
          <a:prstGeom prst="rect">
            <a:avLst/>
          </a:prstGeom>
          <a:noFill/>
          <a:ln/>
        </p:spPr>
        <p:txBody>
          <a:bodyPr wrap="square" lIns="0" tIns="0" rIns="0" bIns="0" rtlCol="0" anchor="t"/>
          <a:lstStyle/>
          <a:p>
            <a:pPr indent="0" marL="0">
              <a:buNone/>
            </a:pPr>
            <a:r>
              <a:rPr lang="en-US" sz="1250" dirty="0">
                <a:solidFill>
                  <a:schemeClr val="tx2"/>
                </a:solidFill>
              </a:rPr>
              <a:t>The impact engine returns each factor's weighted share, so a score of 72 comes with 'drainage 31 percent, saturation 24 percent'</a:t>
            </a:r>
            <a:endParaRPr lang="en-US" sz="1250" dirty="0"/>
          </a:p>
        </p:txBody>
      </p:sp>
      <p:sp>
        <p:nvSpPr>
          <p:cNvPr id="7" name="Text 4"/>
          <p:cNvSpPr txBox="1"/>
          <p:nvPr/>
        </p:nvSpPr>
        <p:spPr>
          <a:xfrm>
            <a:off x="5486400" y="3429000"/>
            <a:ext cx="3200400" cy="960120"/>
          </a:xfrm>
          <a:prstGeom prst="rect">
            <a:avLst/>
          </a:prstGeom>
          <a:noFill/>
          <a:ln/>
        </p:spPr>
        <p:txBody>
          <a:bodyPr wrap="square" lIns="0" tIns="0" rIns="0" bIns="0" rtlCol="0" anchor="t"/>
          <a:lstStyle/>
          <a:p>
            <a:pPr indent="0" marL="0">
              <a:buNone/>
            </a:pPr>
            <a:r>
              <a:rPr lang="en-US" sz="1250" dirty="0">
                <a:solidFill>
                  <a:schemeClr val="tx2"/>
                </a:solidFill>
              </a:rPr>
              <a:t>The road model and the farmer advisory expose their drivers the same way</a:t>
            </a:r>
            <a:endParaRPr lang="en-US" sz="1250" dirty="0"/>
          </a:p>
        </p:txBody>
      </p:sp>
      <p:sp>
        <p:nvSpPr>
          <p:cNvPr id="25" name="Slide Number Placeholder 0"/>
          <p:cNvSpPr>
            <a:spLocks noGrp="1"/>
          </p:cNvSpPr>
          <p:nvPr>
            <p:ph type="sldNum" sz="quarter" idx="4294967295"/>
          </p:nvPr>
        </p:nvSpPr>
        <p:spPr>
          <a:xfrm>
            <a:off x="832104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indent="0" marL="0">
              <a:buNone/>
            </a:pPr>
            <a:r>
              <a:rPr lang="en-US" sz="2800" b="1" dirty="0">
                <a:solidFill>
                  <a:srgbClr val="0B1220"/>
                </a:solidFill>
              </a:rPr>
              <a:t>Safe Routes: roads scored by depth, routed by A*</a:t>
            </a:r>
            <a:endParaRPr lang="en-US" sz="2800" dirty="0"/>
          </a:p>
        </p:txBody>
      </p:sp>
      <p:sp>
        <p:nvSpPr>
          <p:cNvPr id="3" name="Text 1"/>
          <p:cNvSpPr txBox="1"/>
          <p:nvPr/>
        </p:nvSpPr>
        <p:spPr>
          <a:xfrm>
            <a:off x="457200" y="1188720"/>
            <a:ext cx="4206240" cy="548640"/>
          </a:xfrm>
          <a:prstGeom prst="rect">
            <a:avLst/>
          </a:prstGeom>
          <a:noFill/>
          <a:ln/>
        </p:spPr>
        <p:txBody>
          <a:bodyPr wrap="square" lIns="0" tIns="0" rIns="0" bIns="0" rtlCol="0" anchor="ctr"/>
          <a:lstStyle/>
          <a:p>
            <a:pPr indent="0" marL="0">
              <a:buNone/>
            </a:pPr>
            <a:r>
              <a:rPr lang="en-US" sz="1250" dirty="0">
                <a:solidFill>
                  <a:schemeClr val="tx2"/>
                </a:solidFill>
              </a:rPr>
              <a:t>Fetch every road within the site from OpenStreetMap, 52,000 segments cached</a:t>
            </a:r>
            <a:endParaRPr lang="en-US" sz="1250" dirty="0"/>
          </a:p>
        </p:txBody>
      </p:sp>
      <p:sp>
        <p:nvSpPr>
          <p:cNvPr id="4" name="Text 2"/>
          <p:cNvSpPr txBox="1"/>
          <p:nvPr/>
        </p:nvSpPr>
        <p:spPr>
          <a:xfrm>
            <a:off x="457200" y="1865376"/>
            <a:ext cx="4206240" cy="548640"/>
          </a:xfrm>
          <a:prstGeom prst="rect">
            <a:avLst/>
          </a:prstGeom>
          <a:noFill/>
          <a:ln/>
        </p:spPr>
        <p:txBody>
          <a:bodyPr wrap="square" lIns="0" tIns="0" rIns="0" bIns="0" rtlCol="0" anchor="ctr"/>
          <a:lstStyle/>
          <a:p>
            <a:pPr indent="0" marL="0">
              <a:buNone/>
            </a:pPr>
            <a:r>
              <a:rPr lang="en-US" sz="1250" dirty="0">
                <a:solidFill>
                  <a:schemeClr val="tx2"/>
                </a:solidFill>
              </a:rPr>
              <a:t>Sample the flood depth grid every 10 m along each segment</a:t>
            </a:r>
            <a:endParaRPr lang="en-US" sz="1250" dirty="0"/>
          </a:p>
        </p:txBody>
      </p:sp>
      <p:sp>
        <p:nvSpPr>
          <p:cNvPr id="5" name="Text 3"/>
          <p:cNvSpPr txBox="1"/>
          <p:nvPr/>
        </p:nvSpPr>
        <p:spPr>
          <a:xfrm>
            <a:off x="457200" y="2542032"/>
            <a:ext cx="4206240" cy="548640"/>
          </a:xfrm>
          <a:prstGeom prst="rect">
            <a:avLst/>
          </a:prstGeom>
          <a:noFill/>
          <a:ln/>
        </p:spPr>
        <p:txBody>
          <a:bodyPr wrap="square" lIns="0" tIns="0" rIns="0" bIns="0" rtlCol="0" anchor="ctr"/>
          <a:lstStyle/>
          <a:p>
            <a:pPr indent="0" marL="0">
              <a:buNone/>
            </a:pPr>
            <a:r>
              <a:rPr lang="en-US" sz="1250" dirty="0">
                <a:solidFill>
                  <a:schemeClr val="tx2"/>
                </a:solidFill>
              </a:rPr>
              <a:t>Classify by depth, with underpasses forced to caution or closed and bridges always open</a:t>
            </a:r>
            <a:endParaRPr lang="en-US" sz="1250" dirty="0"/>
          </a:p>
        </p:txBody>
      </p:sp>
      <p:sp>
        <p:nvSpPr>
          <p:cNvPr id="6" name="Text 4"/>
          <p:cNvSpPr txBox="1"/>
          <p:nvPr/>
        </p:nvSpPr>
        <p:spPr>
          <a:xfrm>
            <a:off x="457200" y="3218688"/>
            <a:ext cx="4206240" cy="548640"/>
          </a:xfrm>
          <a:prstGeom prst="rect">
            <a:avLst/>
          </a:prstGeom>
          <a:noFill/>
          <a:ln/>
        </p:spPr>
        <p:txBody>
          <a:bodyPr wrap="square" lIns="0" tIns="0" rIns="0" bIns="0" rtlCol="0" anchor="ctr"/>
          <a:lstStyle/>
          <a:p>
            <a:pPr indent="0" marL="0">
              <a:buNone/>
            </a:pPr>
            <a:r>
              <a:rPr lang="en-US" sz="1250" dirty="0">
                <a:solidFill>
                  <a:schemeClr val="tx2"/>
                </a:solidFill>
              </a:rPr>
              <a:t>A* on the road graph: closed edges removed, caution edges penalised, safe and normal route returned together</a:t>
            </a:r>
            <a:endParaRPr lang="en-US" sz="1250" dirty="0"/>
          </a:p>
        </p:txBody>
      </p:sp>
      <p:sp>
        <p:nvSpPr>
          <p:cNvPr id="7" name="Text 5"/>
          <p:cNvSpPr txBox="1"/>
          <p:nvPr/>
        </p:nvSpPr>
        <p:spPr>
          <a:xfrm>
            <a:off x="457200" y="3895344"/>
            <a:ext cx="4206240" cy="548640"/>
          </a:xfrm>
          <a:prstGeom prst="rect">
            <a:avLst/>
          </a:prstGeom>
          <a:noFill/>
          <a:ln/>
        </p:spPr>
        <p:txBody>
          <a:bodyPr wrap="square" lIns="0" tIns="0" rIns="0" bIns="0" rtlCol="0" anchor="ctr"/>
          <a:lstStyle/>
          <a:p>
            <a:pPr indent="0" marL="0">
              <a:buNone/>
            </a:pPr>
            <a:r>
              <a:rPr lang="en-US" sz="1250" dirty="0">
                <a:solidFill>
                  <a:schemeClr val="tx2"/>
                </a:solidFill>
              </a:rPr>
              <a:t>Live community reports override the simulation for six hours</a:t>
            </a:r>
            <a:endParaRPr lang="en-US" sz="1250" dirty="0"/>
          </a:p>
        </p:txBody>
      </p:sp>
      <p:graphicFrame>
        <p:nvGraphicFramePr>
          <p:cNvPr id="17" name="threshold table"/>
          <p:cNvGraphicFramePr>
            <a:graphicFrameLocks noGrp="1"/>
          </p:cNvGraphicFramePr>
          <p:nvPr>
            <p:extLst>
              <p:ext uri="{D42A27DB-BD31-4B8C-83A1-F6EECF244321}">
                <p14:modId xmlns:p14="http://schemas.microsoft.com/office/powerpoint/2010/main" val="1579011935"/>
              </p:ext>
            </p:extLst>
          </p:nvPr>
        </p:nvGraphicFramePr>
        <p:xfrm>
          <a:off x="4937760" y="1188720"/>
          <a:ext cx="3749040" cy="914400"/>
        </p:xfrm>
        <a:graphic>
          <a:graphicData uri="http://schemas.openxmlformats.org/drawingml/2006/table">
            <a:tbl>
              <a:tblPr/>
              <a:tblGrid>
                <a:gridCol w="1005840"/>
                <a:gridCol w="1097280"/>
                <a:gridCol w="1645920"/>
              </a:tblGrid>
              <a:tr h="365760">
                <a:tc>
                  <a:txBody>
                    <a:bodyPr/>
                    <a:lstStyle/>
                    <a:p>
                      <a:pPr indent="0" marL="0">
                        <a:buNone/>
                      </a:pPr>
                      <a:r>
                        <a:rPr lang="en-US" sz="1100" b="1" dirty="0">
                          <a:solidFill>
                            <a:srgbClr val="FFFFFF"/>
                          </a:solidFill>
                        </a:rPr>
                        <a:t>Depth on road</a:t>
                      </a:r>
                      <a:endParaRPr lang="en-US" sz="11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1E293B"/>
                    </a:solidFill>
                  </a:tcPr>
                </a:tc>
                <a:tc>
                  <a:txBody>
                    <a:bodyPr/>
                    <a:lstStyle/>
                    <a:p>
                      <a:pPr indent="0" marL="0">
                        <a:buNone/>
                      </a:pPr>
                      <a:r>
                        <a:rPr lang="en-US" sz="1100" b="1" dirty="0">
                          <a:solidFill>
                            <a:srgbClr val="FFFFFF"/>
                          </a:solidFill>
                        </a:rPr>
                        <a:t>Status</a:t>
                      </a:r>
                      <a:endParaRPr lang="en-US" sz="11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1E293B"/>
                    </a:solidFill>
                  </a:tcPr>
                </a:tc>
                <a:tc>
                  <a:txBody>
                    <a:bodyPr/>
                    <a:lstStyle/>
                    <a:p>
                      <a:pPr indent="0" marL="0">
                        <a:buNone/>
                      </a:pPr>
                      <a:r>
                        <a:rPr lang="en-US" sz="1100" b="1" dirty="0">
                          <a:solidFill>
                            <a:srgbClr val="FFFFFF"/>
                          </a:solidFill>
                        </a:rPr>
                        <a:t>Why</a:t>
                      </a:r>
                      <a:endParaRPr lang="en-US" sz="11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1E293B"/>
                    </a:solidFill>
                  </a:tcPr>
                </a:tc>
              </a:tr>
              <a:tr h="365760">
                <a:tc>
                  <a:txBody>
                    <a:bodyPr/>
                    <a:lstStyle/>
                    <a:p>
                      <a:pPr indent="0" marL="0">
                        <a:buNone/>
                      </a:pPr>
                      <a:r>
                        <a:rPr lang="en-US" sz="1100" dirty="0">
                          <a:solidFill>
                            <a:srgbClr val="1E293B"/>
                          </a:solidFill>
                        </a:rPr>
                        <a:t>under 15 cm</a:t>
                      </a:r>
                      <a:endParaRPr lang="en-US" sz="11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00" b="1" dirty="0">
                          <a:solidFill>
                            <a:srgbClr val="22A05B"/>
                          </a:solidFill>
                        </a:rPr>
                        <a:t>Open</a:t>
                      </a:r>
                      <a:endParaRPr lang="en-US" sz="11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00" dirty="0">
                          <a:solidFill>
                            <a:srgbClr val="1E293B"/>
                          </a:solidFill>
                        </a:rPr>
                        <a:t>Normal driving</a:t>
                      </a:r>
                      <a:endParaRPr lang="en-US" sz="11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r>
              <a:tr h="365760">
                <a:tc>
                  <a:txBody>
                    <a:bodyPr/>
                    <a:lstStyle/>
                    <a:p>
                      <a:pPr indent="0" marL="0">
                        <a:buNone/>
                      </a:pPr>
                      <a:r>
                        <a:rPr lang="en-US" sz="1100" dirty="0">
                          <a:solidFill>
                            <a:srgbClr val="1E293B"/>
                          </a:solidFill>
                        </a:rPr>
                        <a:t>15 to 30 cm</a:t>
                      </a:r>
                      <a:endParaRPr lang="en-US" sz="11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00" b="1" dirty="0">
                          <a:solidFill>
                            <a:srgbClr val="F59E0B"/>
                          </a:solidFill>
                        </a:rPr>
                        <a:t>Caution</a:t>
                      </a:r>
                      <a:endParaRPr lang="en-US" sz="11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00" dirty="0">
                          <a:solidFill>
                            <a:srgbClr val="1E293B"/>
                          </a:solidFill>
                        </a:rPr>
                        <a:t>Cars lose braking, two-wheelers unsafe</a:t>
                      </a:r>
                      <a:endParaRPr lang="en-US" sz="11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r>
              <a:tr h="365760">
                <a:tc>
                  <a:txBody>
                    <a:bodyPr/>
                    <a:lstStyle/>
                    <a:p>
                      <a:pPr indent="0" marL="0">
                        <a:buNone/>
                      </a:pPr>
                      <a:r>
                        <a:rPr lang="en-US" sz="1100" dirty="0">
                          <a:solidFill>
                            <a:srgbClr val="1E293B"/>
                          </a:solidFill>
                        </a:rPr>
                        <a:t>30 to 60 cm</a:t>
                      </a:r>
                      <a:endParaRPr lang="en-US" sz="11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00" b="1" dirty="0">
                          <a:solidFill>
                            <a:srgbClr val="E0443E"/>
                          </a:solidFill>
                        </a:rPr>
                        <a:t>Closed to cars</a:t>
                      </a:r>
                      <a:endParaRPr lang="en-US" sz="11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00" dirty="0">
                          <a:solidFill>
                            <a:srgbClr val="1E293B"/>
                          </a:solidFill>
                        </a:rPr>
                        <a:t>Cars float at about 30 cm</a:t>
                      </a:r>
                      <a:endParaRPr lang="en-US" sz="11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r>
              <a:tr h="365760">
                <a:tc>
                  <a:txBody>
                    <a:bodyPr/>
                    <a:lstStyle/>
                    <a:p>
                      <a:pPr indent="0" marL="0">
                        <a:buNone/>
                      </a:pPr>
                      <a:r>
                        <a:rPr lang="en-US" sz="1100" dirty="0">
                          <a:solidFill>
                            <a:srgbClr val="1E293B"/>
                          </a:solidFill>
                        </a:rPr>
                        <a:t>over 60 cm</a:t>
                      </a:r>
                      <a:endParaRPr lang="en-US" sz="11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00" b="1" dirty="0">
                          <a:solidFill>
                            <a:srgbClr val="7F1D1D"/>
                          </a:solidFill>
                        </a:rPr>
                        <a:t>Closed to all</a:t>
                      </a:r>
                      <a:endParaRPr lang="en-US" sz="11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c>
                  <a:txBody>
                    <a:bodyPr/>
                    <a:lstStyle/>
                    <a:p>
                      <a:pPr indent="0" marL="0">
                        <a:buNone/>
                      </a:pPr>
                      <a:r>
                        <a:rPr lang="en-US" sz="1100" dirty="0">
                          <a:solidFill>
                            <a:srgbClr val="1E293B"/>
                          </a:solidFill>
                        </a:rPr>
                        <a:t>Buses and trucks stall</a:t>
                      </a:r>
                      <a:endParaRPr lang="en-US" sz="11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tcPr>
                </a:tc>
              </a:tr>
            </a:tbl>
          </a:graphicData>
        </a:graphic>
      </p:graphicFrame>
      <p:sp>
        <p:nvSpPr>
          <p:cNvPr id="9" name="road model card"/>
          <p:cNvSpPr/>
          <p:nvPr/>
        </p:nvSpPr>
        <p:spPr>
          <a:xfrm>
            <a:off x="4937760" y="3200400"/>
            <a:ext cx="3749040" cy="1371600"/>
          </a:xfrm>
          <a:prstGeom prst="roundRect">
            <a:avLst>
              <a:gd name="adj" fmla="val 5333"/>
            </a:avLst>
          </a:prstGeom>
          <a:solidFill>
            <a:schemeClr val="bg1"/>
          </a:solidFill>
          <a:ln w="12700">
            <a:solidFill>
              <a:schemeClr val="bg1"/>
            </a:solidFill>
            <a:prstDash val="solid"/>
          </a:ln>
          <a:effectLst>
            <a:outerShdw sx="100000" sy="100000" kx="0" ky="0" algn="bl" rotWithShape="0" blurRad="101600" dist="25400" dir="5400000">
              <a:srgbClr val="0B1220">
                <a:alpha val="14000"/>
              </a:srgbClr>
            </a:outerShdw>
          </a:effectLst>
        </p:spPr>
      </p:sp>
      <p:sp>
        <p:nvSpPr>
          <p:cNvPr id="10" name="Text 7"/>
          <p:cNvSpPr txBox="1"/>
          <p:nvPr/>
        </p:nvSpPr>
        <p:spPr>
          <a:xfrm>
            <a:off x="5120640" y="3310128"/>
            <a:ext cx="3383280" cy="274320"/>
          </a:xfrm>
          <a:prstGeom prst="rect">
            <a:avLst/>
          </a:prstGeom>
          <a:noFill/>
          <a:ln/>
        </p:spPr>
        <p:txBody>
          <a:bodyPr wrap="square" lIns="0" tIns="0" rIns="0" bIns="0" rtlCol="0" anchor="t"/>
          <a:lstStyle/>
          <a:p>
            <a:pPr indent="0" marL="0">
              <a:buNone/>
            </a:pPr>
            <a:r>
              <a:rPr lang="en-US" sz="1300" b="1" dirty="0">
                <a:solidFill>
                  <a:schemeClr val="tx1"/>
                </a:solidFill>
              </a:rPr>
              <a:t>Road risk surrogate model</a:t>
            </a:r>
            <a:endParaRPr lang="en-US" sz="1300" dirty="0"/>
          </a:p>
        </p:txBody>
      </p:sp>
      <p:sp>
        <p:nvSpPr>
          <p:cNvPr id="11" name="Text 8"/>
          <p:cNvSpPr txBox="1"/>
          <p:nvPr/>
        </p:nvSpPr>
        <p:spPr>
          <a:xfrm>
            <a:off x="5120640" y="3611880"/>
            <a:ext cx="3383280" cy="914400"/>
          </a:xfrm>
          <a:prstGeom prst="rect">
            <a:avLst/>
          </a:prstGeom>
          <a:noFill/>
          <a:ln/>
        </p:spPr>
        <p:txBody>
          <a:bodyPr wrap="square" lIns="0" tIns="0" rIns="0" bIns="0" rtlCol="0" anchor="t"/>
          <a:lstStyle/>
          <a:p>
            <a:pPr indent="0" marL="0">
              <a:buNone/>
            </a:pPr>
            <a:r>
              <a:rPr lang="en-US" sz="1050" dirty="0">
                <a:solidFill>
                  <a:schemeClr val="tx2"/>
                </a:solidFill>
              </a:rPr>
              <a:t>XGBoost over 18 terrain and scenario features, 134,400 simulated segment-scenarios across six cities, Coimbatore held out. Closed-road recall 0.94. Labels come from the ponding simulation, not observed floods, and the metrics file says so.</a:t>
            </a:r>
            <a:endParaRPr lang="en-US" sz="1050" dirty="0"/>
          </a:p>
        </p:txBody>
      </p:sp>
      <p:sp>
        <p:nvSpPr>
          <p:cNvPr id="25" name="Slide Number Placeholder 0"/>
          <p:cNvSpPr>
            <a:spLocks noGrp="1"/>
          </p:cNvSpPr>
          <p:nvPr>
            <p:ph type="sldNum" sz="quarter" idx="4294967295"/>
          </p:nvPr>
        </p:nvSpPr>
        <p:spPr>
          <a:xfrm>
            <a:off x="832104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indent="0" marL="0">
              <a:buNone/>
            </a:pPr>
            <a:r>
              <a:rPr lang="en-US" sz="2800" b="1" dirty="0">
                <a:solidFill>
                  <a:srgbClr val="0B1220"/>
                </a:solidFill>
              </a:rPr>
              <a:t>Safe Routes in action</a:t>
            </a:r>
            <a:endParaRPr lang="en-US" sz="2800" dirty="0"/>
          </a:p>
        </p:txBody>
      </p:sp>
      <p:pic>
        <p:nvPicPr>
          <p:cNvPr id="3" name="routes screenshot" descr="C:\Users\Piyush\AppData\Local\Temp\claude\C--Users-Piyush-OneDrive-Desktop-rainfall-predictor\7052997d-b1d5-47e8-85b7-36d79c80cb7b\scratchpad\shots\routes.png">    </p:cNvPr>
          <p:cNvPicPr>
            <a:picLocks noChangeAspect="1"/>
          </p:cNvPicPr>
          <p:nvPr/>
        </p:nvPicPr>
        <p:blipFill>
          <a:blip r:embed="rId1"/>
          <a:stretch>
            <a:fillRect/>
          </a:stretch>
        </p:blipFill>
        <p:spPr>
          <a:xfrm>
            <a:off x="457200" y="1097280"/>
            <a:ext cx="5669280" cy="3566160"/>
          </a:xfrm>
          <a:prstGeom prst="rect">
            <a:avLst/>
          </a:prstGeom>
        </p:spPr>
      </p:pic>
      <p:sp>
        <p:nvSpPr>
          <p:cNvPr id="4" name="routes notes"/>
          <p:cNvSpPr/>
          <p:nvPr/>
        </p:nvSpPr>
        <p:spPr>
          <a:xfrm>
            <a:off x="6355080" y="1097280"/>
            <a:ext cx="2331720" cy="3566160"/>
          </a:xfrm>
          <a:prstGeom prst="roundRect">
            <a:avLst>
              <a:gd name="adj" fmla="val 3137"/>
            </a:avLst>
          </a:prstGeom>
          <a:solidFill>
            <a:schemeClr val="bg1"/>
          </a:solidFill>
          <a:ln w="12700">
            <a:solidFill>
              <a:schemeClr val="bg1"/>
            </a:solidFill>
            <a:prstDash val="solid"/>
          </a:ln>
          <a:effectLst>
            <a:outerShdw sx="100000" sy="100000" kx="0" ky="0" algn="bl" rotWithShape="0" blurRad="101600" dist="25400" dir="5400000">
              <a:srgbClr val="0B1220">
                <a:alpha val="14000"/>
              </a:srgbClr>
            </a:outerShdw>
          </a:effectLst>
        </p:spPr>
      </p:sp>
      <p:sp>
        <p:nvSpPr>
          <p:cNvPr id="5" name="Text 2"/>
          <p:cNvSpPr txBox="1"/>
          <p:nvPr/>
        </p:nvSpPr>
        <p:spPr>
          <a:xfrm>
            <a:off x="6537960" y="1280160"/>
            <a:ext cx="2011680" cy="320040"/>
          </a:xfrm>
          <a:prstGeom prst="rect">
            <a:avLst/>
          </a:prstGeom>
          <a:noFill/>
          <a:ln/>
        </p:spPr>
        <p:txBody>
          <a:bodyPr wrap="square" lIns="0" tIns="0" rIns="0" bIns="0" rtlCol="0" anchor="t"/>
          <a:lstStyle/>
          <a:p>
            <a:pPr indent="0" marL="0">
              <a:buNone/>
            </a:pPr>
            <a:r>
              <a:rPr lang="en-US" sz="1500" b="1" dirty="0">
                <a:solidFill>
                  <a:schemeClr val="tx1"/>
                </a:solidFill>
              </a:rPr>
              <a:t>Live mode, Chennai</a:t>
            </a:r>
            <a:endParaRPr lang="en-US" sz="1500" dirty="0"/>
          </a:p>
        </p:txBody>
      </p:sp>
      <p:sp>
        <p:nvSpPr>
          <p:cNvPr id="6" name="Text 3"/>
          <p:cNvSpPr txBox="1"/>
          <p:nvPr/>
        </p:nvSpPr>
        <p:spPr>
          <a:xfrm>
            <a:off x="6537960" y="1691640"/>
            <a:ext cx="2011680" cy="292608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chemeClr val="tx2"/>
                </a:solidFill>
              </a:rPr>
              <a:t>Roads within about 3.6 km scored against the last 6 hours of observed rain and the next 6 hours of forecast</a:t>
            </a:r>
            <a:endParaRPr lang="en-US" sz="1100" dirty="0"/>
          </a:p>
          <a:p>
            <a:pPr marL="342900" indent="-342900">
              <a:spcAft>
                <a:spcPts val="600"/>
              </a:spcAft>
              <a:buSzPct val="100000"/>
              <a:buChar char="•"/>
            </a:pPr>
            <a:r>
              <a:rPr lang="en-US" sz="1100" dirty="0">
                <a:solidFill>
                  <a:schemeClr val="tx2"/>
                </a:solidFill>
              </a:rPr>
              <a:t>Green open, amber caution, red closed, with the safe route drawn in cyan</a:t>
            </a:r>
            <a:endParaRPr lang="en-US" sz="1100" dirty="0"/>
          </a:p>
          <a:p>
            <a:pPr marL="342900" indent="-342900">
              <a:spcAft>
                <a:spcPts val="600"/>
              </a:spcAft>
              <a:buSzPct val="100000"/>
              <a:buChar char="•"/>
            </a:pPr>
            <a:r>
              <a:rPr lang="en-US" sz="1100" dirty="0">
                <a:solidFill>
                  <a:schemeClr val="tx2"/>
                </a:solidFill>
              </a:rPr>
              <a:t>Origin is the device location, destination by search or a map click</a:t>
            </a:r>
            <a:endParaRPr lang="en-US" sz="1100" dirty="0"/>
          </a:p>
          <a:p>
            <a:pPr marL="342900" indent="-342900">
              <a:spcAft>
                <a:spcPts val="600"/>
              </a:spcAft>
              <a:buSzPct val="100000"/>
              <a:buChar char="•"/>
            </a:pPr>
            <a:r>
              <a:rPr lang="en-US" sz="1100" dirty="0">
                <a:solidFill>
                  <a:schemeClr val="tx2"/>
                </a:solidFill>
              </a:rPr>
              <a:t>Long trips hand the outer legs to OSRM and apply flood detours inside the grid</a:t>
            </a:r>
            <a:endParaRPr lang="en-US" sz="1100" dirty="0"/>
          </a:p>
        </p:txBody>
      </p:sp>
      <p:sp>
        <p:nvSpPr>
          <p:cNvPr id="25" name="Slide Number Placeholder 0"/>
          <p:cNvSpPr>
            <a:spLocks noGrp="1"/>
          </p:cNvSpPr>
          <p:nvPr>
            <p:ph type="sldNum" sz="quarter" idx="4294967295"/>
          </p:nvPr>
        </p:nvSpPr>
        <p:spPr>
          <a:xfrm>
            <a:off x="832104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indent="0" marL="0">
              <a:buNone/>
            </a:pPr>
            <a:r>
              <a:rPr lang="en-US" sz="2800" b="1" dirty="0">
                <a:solidFill>
                  <a:srgbClr val="0B1220"/>
                </a:solidFill>
              </a:rPr>
              <a:t>Decisions, not millimetres</a:t>
            </a:r>
            <a:endParaRPr lang="en-US" sz="2800" dirty="0"/>
          </a:p>
        </p:txBody>
      </p:sp>
      <p:sp>
        <p:nvSpPr>
          <p:cNvPr id="3" name="farmer col"/>
          <p:cNvSpPr/>
          <p:nvPr/>
        </p:nvSpPr>
        <p:spPr>
          <a:xfrm>
            <a:off x="457200" y="1143000"/>
            <a:ext cx="4023360" cy="3429000"/>
          </a:xfrm>
          <a:prstGeom prst="roundRect">
            <a:avLst>
              <a:gd name="adj" fmla="val 2133"/>
            </a:avLst>
          </a:prstGeom>
          <a:solidFill>
            <a:schemeClr val="bg1"/>
          </a:solidFill>
          <a:ln w="12700">
            <a:solidFill>
              <a:schemeClr val="bg1"/>
            </a:solidFill>
            <a:prstDash val="solid"/>
          </a:ln>
          <a:effectLst>
            <a:outerShdw sx="100000" sy="100000" kx="0" ky="0" algn="bl" rotWithShape="0" blurRad="101600" dist="25400" dir="5400000">
              <a:srgbClr val="0B1220">
                <a:alpha val="14000"/>
              </a:srgbClr>
            </a:outerShdw>
          </a:effectLst>
        </p:spPr>
      </p:sp>
      <p:sp>
        <p:nvSpPr>
          <p:cNvPr id="4" name="alert col"/>
          <p:cNvSpPr/>
          <p:nvPr/>
        </p:nvSpPr>
        <p:spPr>
          <a:xfrm>
            <a:off x="4663440" y="1143000"/>
            <a:ext cx="4023360" cy="3429000"/>
          </a:xfrm>
          <a:prstGeom prst="roundRect">
            <a:avLst>
              <a:gd name="adj" fmla="val 2133"/>
            </a:avLst>
          </a:prstGeom>
          <a:solidFill>
            <a:schemeClr val="bg1"/>
          </a:solidFill>
          <a:ln w="12700">
            <a:solidFill>
              <a:schemeClr val="bg1"/>
            </a:solidFill>
            <a:prstDash val="solid"/>
          </a:ln>
          <a:effectLst>
            <a:outerShdw sx="100000" sy="100000" kx="0" ky="0" algn="bl" rotWithShape="0" blurRad="101600" dist="25400" dir="5400000">
              <a:srgbClr val="0B1220">
                <a:alpha val="14000"/>
              </a:srgbClr>
            </a:outerShdw>
          </a:effectLst>
        </p:spPr>
      </p:sp>
      <p:sp>
        <p:nvSpPr>
          <p:cNvPr id="5" name="Text 3"/>
          <p:cNvSpPr txBox="1"/>
          <p:nvPr/>
        </p:nvSpPr>
        <p:spPr>
          <a:xfrm>
            <a:off x="685800" y="1325880"/>
            <a:ext cx="3017520" cy="457200"/>
          </a:xfrm>
          <a:prstGeom prst="rect">
            <a:avLst/>
          </a:prstGeom>
          <a:noFill/>
          <a:ln/>
        </p:spPr>
        <p:txBody>
          <a:bodyPr wrap="square" lIns="0" tIns="0" rIns="0" bIns="0" rtlCol="0" anchor="ctr"/>
          <a:lstStyle/>
          <a:p>
            <a:pPr indent="0" marL="0">
              <a:buNone/>
            </a:pPr>
            <a:r>
              <a:rPr lang="en-US" sz="1800" b="1" dirty="0">
                <a:solidFill>
                  <a:schemeClr val="tx1"/>
                </a:solidFill>
              </a:rPr>
              <a:t>Farmer advisory</a:t>
            </a:r>
            <a:endParaRPr lang="en-US" sz="1800" dirty="0"/>
          </a:p>
        </p:txBody>
      </p:sp>
      <p:sp>
        <p:nvSpPr>
          <p:cNvPr id="6" name="Text 4"/>
          <p:cNvSpPr txBox="1"/>
          <p:nvPr/>
        </p:nvSpPr>
        <p:spPr>
          <a:xfrm>
            <a:off x="685800" y="1920240"/>
            <a:ext cx="3566160" cy="256032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chemeClr val="tx2"/>
                </a:solidFill>
              </a:rPr>
              <a:t>Seven days back and seven forward from the forecast, with soil moisture at three depths</a:t>
            </a:r>
            <a:endParaRPr lang="en-US" sz="1150" dirty="0"/>
          </a:p>
          <a:p>
            <a:pPr marL="342900" indent="-342900">
              <a:spcAft>
                <a:spcPts val="600"/>
              </a:spcAft>
              <a:buSzPct val="100000"/>
              <a:buChar char="•"/>
            </a:pPr>
            <a:r>
              <a:rPr lang="en-US" sz="1150" dirty="0">
                <a:solidFill>
                  <a:schemeClr val="tx2"/>
                </a:solidFill>
              </a:rPr>
              <a:t>Water balance from rain, ET0 and radiation, so irrigation advice is a number, not a guess</a:t>
            </a:r>
            <a:endParaRPr lang="en-US" sz="1150" dirty="0"/>
          </a:p>
          <a:p>
            <a:pPr marL="342900" indent="-342900">
              <a:spcAft>
                <a:spcPts val="600"/>
              </a:spcAft>
              <a:buSzPct val="100000"/>
              <a:buChar char="•"/>
            </a:pPr>
            <a:r>
              <a:rPr lang="en-US" sz="1150" dirty="0">
                <a:solidFill>
                  <a:schemeClr val="tx2"/>
                </a:solidFill>
              </a:rPr>
              <a:t>Waterlogging risk from the same ponding model used for the flood map, run on the next 72 hours</a:t>
            </a:r>
            <a:endParaRPr lang="en-US" sz="1150" dirty="0"/>
          </a:p>
          <a:p>
            <a:pPr marL="342900" indent="-342900">
              <a:spcAft>
                <a:spcPts val="600"/>
              </a:spcAft>
              <a:buSzPct val="100000"/>
              <a:buChar char="•"/>
            </a:pPr>
            <a:r>
              <a:rPr lang="en-US" sz="1150" dirty="0">
                <a:solidFill>
                  <a:schemeClr val="tx2"/>
                </a:solidFill>
              </a:rPr>
              <a:t>Crop and stage aware: lodging risk for ripening paddy, disease pressure from humidity</a:t>
            </a:r>
            <a:endParaRPr lang="en-US" sz="1150" dirty="0"/>
          </a:p>
          <a:p>
            <a:pPr marL="342900" indent="-342900">
              <a:spcAft>
                <a:spcPts val="600"/>
              </a:spcAft>
              <a:buSzPct val="100000"/>
              <a:buChar char="•"/>
            </a:pPr>
            <a:r>
              <a:rPr lang="en-US" sz="1150" dirty="0">
                <a:solidFill>
                  <a:schemeClr val="tx2"/>
                </a:solidFill>
              </a:rPr>
              <a:t>Spray, sowing and harvest windows, ranked advisory list</a:t>
            </a:r>
            <a:endParaRPr lang="en-US" sz="1150" dirty="0"/>
          </a:p>
        </p:txBody>
      </p:sp>
      <p:sp>
        <p:nvSpPr>
          <p:cNvPr id="7" name="Text 5"/>
          <p:cNvSpPr txBox="1"/>
          <p:nvPr/>
        </p:nvSpPr>
        <p:spPr>
          <a:xfrm>
            <a:off x="4892040" y="1325880"/>
            <a:ext cx="3017520" cy="457200"/>
          </a:xfrm>
          <a:prstGeom prst="rect">
            <a:avLst/>
          </a:prstGeom>
          <a:noFill/>
          <a:ln/>
        </p:spPr>
        <p:txBody>
          <a:bodyPr wrap="square" lIns="0" tIns="0" rIns="0" bIns="0" rtlCol="0" anchor="ctr"/>
          <a:lstStyle/>
          <a:p>
            <a:pPr indent="0" marL="0">
              <a:buNone/>
            </a:pPr>
            <a:r>
              <a:rPr lang="en-US" sz="1800" b="1" dirty="0">
                <a:solidFill>
                  <a:schemeClr val="tx1"/>
                </a:solidFill>
              </a:rPr>
              <a:t>Alerts and response</a:t>
            </a:r>
            <a:endParaRPr lang="en-US" sz="1800" dirty="0"/>
          </a:p>
        </p:txBody>
      </p:sp>
      <p:sp>
        <p:nvSpPr>
          <p:cNvPr id="8" name="Text 6"/>
          <p:cNvSpPr txBox="1"/>
          <p:nvPr/>
        </p:nvSpPr>
        <p:spPr>
          <a:xfrm>
            <a:off x="4892040" y="1920240"/>
            <a:ext cx="3566160" cy="256032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chemeClr val="tx2"/>
                </a:solidFill>
              </a:rPr>
              <a:t>Alerts targeted by district and ward risk class, not broadcast statewide</a:t>
            </a:r>
            <a:endParaRPr lang="en-US" sz="1150" dirty="0"/>
          </a:p>
          <a:p>
            <a:pPr marL="342900" indent="-342900">
              <a:spcAft>
                <a:spcPts val="600"/>
              </a:spcAft>
              <a:buSzPct val="100000"/>
              <a:buChar char="•"/>
            </a:pPr>
            <a:r>
              <a:rPr lang="en-US" sz="1150" dirty="0">
                <a:solidFill>
                  <a:schemeClr val="tx2"/>
                </a:solidFill>
              </a:rPr>
              <a:t>SMS and WhatsApp through Twilio, push through Firebase, with subscriber management</a:t>
            </a:r>
            <a:endParaRPr lang="en-US" sz="1150" dirty="0"/>
          </a:p>
          <a:p>
            <a:pPr marL="342900" indent="-342900">
              <a:spcAft>
                <a:spcPts val="600"/>
              </a:spcAft>
              <a:buSzPct val="100000"/>
              <a:buChar char="•"/>
            </a:pPr>
            <a:r>
              <a:rPr lang="en-US" sz="1150" dirty="0">
                <a:solidFill>
                  <a:schemeClr val="tx2"/>
                </a:solidFill>
              </a:rPr>
              <a:t>Live reservoir levels for the Chennai lakes and Kerala dams, scraped daily</a:t>
            </a:r>
            <a:endParaRPr lang="en-US" sz="1150" dirty="0"/>
          </a:p>
          <a:p>
            <a:pPr marL="342900" indent="-342900">
              <a:spcAft>
                <a:spcPts val="600"/>
              </a:spcAft>
              <a:buSzPct val="100000"/>
              <a:buChar char="•"/>
            </a:pPr>
            <a:r>
              <a:rPr lang="en-US" sz="1150" dirty="0">
                <a:solidFill>
                  <a:schemeClr val="tx2"/>
                </a:solidFill>
              </a:rPr>
              <a:t>Community reports with upvotes and moderation, feeding the road status layer</a:t>
            </a:r>
            <a:endParaRPr lang="en-US" sz="1150" dirty="0"/>
          </a:p>
          <a:p>
            <a:pPr marL="342900" indent="-342900">
              <a:spcAft>
                <a:spcPts val="600"/>
              </a:spcAft>
              <a:buSzPct val="100000"/>
              <a:buChar char="•"/>
            </a:pPr>
            <a:r>
              <a:rPr lang="en-US" sz="1150" dirty="0">
                <a:solidFill>
                  <a:schemeClr val="tx2"/>
                </a:solidFill>
              </a:rPr>
              <a:t>What-if scenarios: any rainfall and duration, any point, mapped in seconds</a:t>
            </a:r>
            <a:endParaRPr lang="en-US" sz="1150" dirty="0"/>
          </a:p>
        </p:txBody>
      </p:sp>
      <p:sp>
        <p:nvSpPr>
          <p:cNvPr id="25" name="Slide Number Placeholder 0"/>
          <p:cNvSpPr>
            <a:spLocks noGrp="1"/>
          </p:cNvSpPr>
          <p:nvPr>
            <p:ph type="sldNum" sz="quarter" idx="4294967295"/>
          </p:nvPr>
        </p:nvSpPr>
        <p:spPr>
          <a:xfrm>
            <a:off x="832104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indent="0" marL="0">
              <a:buNone/>
            </a:pPr>
            <a:r>
              <a:rPr lang="en-US" sz="2800" b="1" dirty="0">
                <a:solidFill>
                  <a:srgbClr val="0B1220"/>
                </a:solidFill>
              </a:rPr>
              <a:t>What is real today, and what is not yet</a:t>
            </a:r>
            <a:endParaRPr lang="en-US" sz="2800" dirty="0"/>
          </a:p>
        </p:txBody>
      </p:sp>
      <p:sp>
        <p:nvSpPr>
          <p:cNvPr id="3" name="real col"/>
          <p:cNvSpPr/>
          <p:nvPr/>
        </p:nvSpPr>
        <p:spPr>
          <a:xfrm>
            <a:off x="457200" y="1143000"/>
            <a:ext cx="4023360" cy="3429000"/>
          </a:xfrm>
          <a:prstGeom prst="roundRect">
            <a:avLst>
              <a:gd name="adj" fmla="val 2133"/>
            </a:avLst>
          </a:prstGeom>
          <a:solidFill>
            <a:srgbClr val="EEF8F1"/>
          </a:solidFill>
          <a:ln w="12700">
            <a:solidFill>
              <a:srgbClr val="EEF8F1"/>
            </a:solidFill>
            <a:prstDash val="solid"/>
          </a:ln>
          <a:effectLst>
            <a:outerShdw sx="100000" sy="100000" kx="0" ky="0" algn="bl" rotWithShape="0" blurRad="101600" dist="25400" dir="5400000">
              <a:srgbClr val="0B1220">
                <a:alpha val="14000"/>
              </a:srgbClr>
            </a:outerShdw>
          </a:effectLst>
        </p:spPr>
      </p:sp>
      <p:sp>
        <p:nvSpPr>
          <p:cNvPr id="4" name="limit col"/>
          <p:cNvSpPr/>
          <p:nvPr/>
        </p:nvSpPr>
        <p:spPr>
          <a:xfrm>
            <a:off x="4663440" y="1143000"/>
            <a:ext cx="4023360" cy="3429000"/>
          </a:xfrm>
          <a:prstGeom prst="roundRect">
            <a:avLst>
              <a:gd name="adj" fmla="val 2133"/>
            </a:avLst>
          </a:prstGeom>
          <a:solidFill>
            <a:srgbClr val="FFF6E8"/>
          </a:solidFill>
          <a:ln w="12700">
            <a:solidFill>
              <a:srgbClr val="FFF6E8"/>
            </a:solidFill>
            <a:prstDash val="solid"/>
          </a:ln>
          <a:effectLst>
            <a:outerShdw sx="100000" sy="100000" kx="0" ky="0" algn="bl" rotWithShape="0" blurRad="101600" dist="25400" dir="5400000">
              <a:srgbClr val="0B1220">
                <a:alpha val="14000"/>
              </a:srgbClr>
            </a:outerShdw>
          </a:effectLst>
        </p:spPr>
      </p:sp>
      <p:sp>
        <p:nvSpPr>
          <p:cNvPr id="5" name="Text 3"/>
          <p:cNvSpPr txBox="1"/>
          <p:nvPr/>
        </p:nvSpPr>
        <p:spPr>
          <a:xfrm>
            <a:off x="685800" y="1325880"/>
            <a:ext cx="3017520" cy="457200"/>
          </a:xfrm>
          <a:prstGeom prst="rect">
            <a:avLst/>
          </a:prstGeom>
          <a:noFill/>
          <a:ln/>
        </p:spPr>
        <p:txBody>
          <a:bodyPr wrap="square" lIns="0" tIns="0" rIns="0" bIns="0" rtlCol="0" anchor="ctr"/>
          <a:lstStyle/>
          <a:p>
            <a:pPr indent="0" marL="0">
              <a:buNone/>
            </a:pPr>
            <a:r>
              <a:rPr lang="en-US" sz="1800" b="1" dirty="0">
                <a:solidFill>
                  <a:schemeClr val="tx1"/>
                </a:solidFill>
              </a:rPr>
              <a:t>Verified and running</a:t>
            </a:r>
            <a:endParaRPr lang="en-US" sz="1800" dirty="0"/>
          </a:p>
        </p:txBody>
      </p:sp>
      <p:sp>
        <p:nvSpPr>
          <p:cNvPr id="6" name="Text 4"/>
          <p:cNvSpPr txBox="1"/>
          <p:nvPr/>
        </p:nvSpPr>
        <p:spPr>
          <a:xfrm>
            <a:off x="685800" y="1920240"/>
            <a:ext cx="3566160" cy="256032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chemeClr val="tx2"/>
                </a:solidFill>
              </a:rPr>
              <a:t>Eight models trained on real data with time or site holdouts, metrics on disk</a:t>
            </a:r>
            <a:endParaRPr lang="en-US" sz="1150" dirty="0"/>
          </a:p>
          <a:p>
            <a:pPr marL="342900" indent="-342900">
              <a:spcAft>
                <a:spcPts val="600"/>
              </a:spcAft>
              <a:buSzPct val="100000"/>
              <a:buChar char="•"/>
            </a:pPr>
            <a:r>
              <a:rPr lang="en-US" sz="1150" dirty="0">
                <a:solidFill>
                  <a:schemeClr val="tx2"/>
                </a:solidFill>
              </a:rPr>
              <a:t>Live weather for 36 districts refreshed on a schedule</a:t>
            </a:r>
            <a:endParaRPr lang="en-US" sz="1150" dirty="0"/>
          </a:p>
          <a:p>
            <a:pPr marL="342900" indent="-342900">
              <a:spcAft>
                <a:spcPts val="600"/>
              </a:spcAft>
              <a:buSzPct val="100000"/>
              <a:buChar char="•"/>
            </a:pPr>
            <a:r>
              <a:rPr lang="en-US" sz="1150" dirty="0">
                <a:solidFill>
                  <a:schemeClr val="tx2"/>
                </a:solidFill>
              </a:rPr>
              <a:t>Terrain flood simulation on real SRTM grids</a:t>
            </a:r>
            <a:endParaRPr lang="en-US" sz="1150" dirty="0"/>
          </a:p>
          <a:p>
            <a:pPr marL="342900" indent="-342900">
              <a:spcAft>
                <a:spcPts val="600"/>
              </a:spcAft>
              <a:buSzPct val="100000"/>
              <a:buChar char="•"/>
            </a:pPr>
            <a:r>
              <a:rPr lang="en-US" sz="1150" dirty="0">
                <a:solidFill>
                  <a:schemeClr val="tx2"/>
                </a:solidFill>
              </a:rPr>
              <a:t>Safe Routes with live and scenario modes, OSRM for long trips</a:t>
            </a:r>
            <a:endParaRPr lang="en-US" sz="1150" dirty="0"/>
          </a:p>
          <a:p>
            <a:pPr marL="342900" indent="-342900">
              <a:spcAft>
                <a:spcPts val="600"/>
              </a:spcAft>
              <a:buSzPct val="100000"/>
              <a:buChar char="•"/>
            </a:pPr>
            <a:r>
              <a:rPr lang="en-US" sz="1150" dirty="0">
                <a:solidFill>
                  <a:schemeClr val="tx2"/>
                </a:solidFill>
              </a:rPr>
              <a:t>Reservoir levels from two live sources</a:t>
            </a:r>
            <a:endParaRPr lang="en-US" sz="1150" dirty="0"/>
          </a:p>
          <a:p>
            <a:pPr marL="342900" indent="-342900">
              <a:spcAft>
                <a:spcPts val="600"/>
              </a:spcAft>
              <a:buSzPct val="100000"/>
              <a:buChar char="•"/>
            </a:pPr>
            <a:r>
              <a:rPr lang="en-US" sz="1150" dirty="0">
                <a:solidFill>
                  <a:schemeClr val="tx2"/>
                </a:solidFill>
              </a:rPr>
              <a:t>Farmer advisory and alert pipeline end to end</a:t>
            </a:r>
            <a:endParaRPr lang="en-US" sz="1150" dirty="0"/>
          </a:p>
        </p:txBody>
      </p:sp>
      <p:sp>
        <p:nvSpPr>
          <p:cNvPr id="7" name="Text 5"/>
          <p:cNvSpPr txBox="1"/>
          <p:nvPr/>
        </p:nvSpPr>
        <p:spPr>
          <a:xfrm>
            <a:off x="4892040" y="1325880"/>
            <a:ext cx="3017520" cy="457200"/>
          </a:xfrm>
          <a:prstGeom prst="rect">
            <a:avLst/>
          </a:prstGeom>
          <a:noFill/>
          <a:ln/>
        </p:spPr>
        <p:txBody>
          <a:bodyPr wrap="square" lIns="0" tIns="0" rIns="0" bIns="0" rtlCol="0" anchor="ctr"/>
          <a:lstStyle/>
          <a:p>
            <a:pPr indent="0" marL="0">
              <a:buNone/>
            </a:pPr>
            <a:r>
              <a:rPr lang="en-US" sz="1800" b="1" dirty="0">
                <a:solidFill>
                  <a:schemeClr val="tx1"/>
                </a:solidFill>
              </a:rPr>
              <a:t>Known limits</a:t>
            </a:r>
            <a:endParaRPr lang="en-US" sz="1800" dirty="0"/>
          </a:p>
        </p:txBody>
      </p:sp>
      <p:sp>
        <p:nvSpPr>
          <p:cNvPr id="8" name="Text 6"/>
          <p:cNvSpPr txBox="1"/>
          <p:nvPr/>
        </p:nvSpPr>
        <p:spPr>
          <a:xfrm>
            <a:off x="4892040" y="1920240"/>
            <a:ext cx="3566160" cy="256032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chemeClr val="tx2"/>
                </a:solidFill>
              </a:rPr>
              <a:t>Extreme-class recall is low for every model. Rare events need more years and gauge data</a:t>
            </a:r>
            <a:endParaRPr lang="en-US" sz="1150" dirty="0"/>
          </a:p>
          <a:p>
            <a:pPr marL="342900" indent="-342900">
              <a:spcAft>
                <a:spcPts val="600"/>
              </a:spcAft>
              <a:buSzPct val="100000"/>
              <a:buChar char="•"/>
            </a:pPr>
            <a:r>
              <a:rPr lang="en-US" sz="1150" dirty="0">
                <a:solidFill>
                  <a:schemeClr val="tx2"/>
                </a:solidFill>
              </a:rPr>
              <a:t>Road model labels come from the simulation, not observed floods, until community reports accumulate</a:t>
            </a:r>
            <a:endParaRPr lang="en-US" sz="1150" dirty="0"/>
          </a:p>
          <a:p>
            <a:pPr marL="342900" indent="-342900">
              <a:spcAft>
                <a:spcPts val="600"/>
              </a:spcAft>
              <a:buSzPct val="100000"/>
              <a:buChar char="•"/>
            </a:pPr>
            <a:r>
              <a:rPr lang="en-US" sz="1150" dirty="0">
                <a:solidFill>
                  <a:schemeClr val="tx2"/>
                </a:solidFill>
              </a:rPr>
              <a:t>Nowcast grid is 0.25 degrees reanalysis, too coarse for convective cores</a:t>
            </a:r>
            <a:endParaRPr lang="en-US" sz="1150" dirty="0"/>
          </a:p>
          <a:p>
            <a:pPr marL="342900" indent="-342900">
              <a:spcAft>
                <a:spcPts val="600"/>
              </a:spcAft>
              <a:buSzPct val="100000"/>
              <a:buChar char="•"/>
            </a:pPr>
            <a:r>
              <a:rPr lang="en-US" sz="1150" dirty="0">
                <a:solidFill>
                  <a:schemeClr val="tx2"/>
                </a:solidFill>
              </a:rPr>
              <a:t>Mettur and Bhavanisagar reservoirs still carry seeded values, labelled as such</a:t>
            </a:r>
            <a:endParaRPr lang="en-US" sz="1150" dirty="0"/>
          </a:p>
          <a:p>
            <a:pPr marL="342900" indent="-342900">
              <a:spcAft>
                <a:spcPts val="600"/>
              </a:spcAft>
              <a:buSzPct val="100000"/>
              <a:buChar char="•"/>
            </a:pPr>
            <a:r>
              <a:rPr lang="en-US" sz="1150" dirty="0">
                <a:solidFill>
                  <a:schemeClr val="tx2"/>
                </a:solidFill>
              </a:rPr>
              <a:t>No IMD gauge or radar feed, because neither has a public API</a:t>
            </a:r>
            <a:endParaRPr lang="en-US" sz="1150" dirty="0"/>
          </a:p>
        </p:txBody>
      </p:sp>
      <p:sp>
        <p:nvSpPr>
          <p:cNvPr id="25" name="Slide Number Placeholder 0"/>
          <p:cNvSpPr>
            <a:spLocks noGrp="1"/>
          </p:cNvSpPr>
          <p:nvPr>
            <p:ph type="sldNum" sz="quarter" idx="4294967295"/>
          </p:nvPr>
        </p:nvSpPr>
        <p:spPr>
          <a:xfrm>
            <a:off x="832104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40080"/>
          </a:xfrm>
          <a:prstGeom prst="rect">
            <a:avLst/>
          </a:prstGeom>
          <a:noFill/>
          <a:ln/>
        </p:spPr>
        <p:txBody>
          <a:bodyPr wrap="square" lIns="0" tIns="0" rIns="0" bIns="0" rtlCol="0" anchor="ctr"/>
          <a:lstStyle/>
          <a:p>
            <a:pPr indent="0" marL="0">
              <a:buNone/>
            </a:pPr>
            <a:r>
              <a:rPr lang="en-US" sz="2800" b="1" dirty="0">
                <a:solidFill>
                  <a:srgbClr val="0B1220"/>
                </a:solidFill>
              </a:rPr>
              <a:t>Next steps</a:t>
            </a:r>
            <a:endParaRPr lang="en-US" sz="2800" dirty="0"/>
          </a:p>
        </p:txBody>
      </p:sp>
      <p:sp>
        <p:nvSpPr>
          <p:cNvPr id="3" name="rm GPM IMERG"/>
          <p:cNvSpPr/>
          <p:nvPr/>
        </p:nvSpPr>
        <p:spPr>
          <a:xfrm>
            <a:off x="457200" y="1143000"/>
            <a:ext cx="2606040" cy="1554480"/>
          </a:xfrm>
          <a:prstGeom prst="roundRect">
            <a:avLst>
              <a:gd name="adj" fmla="val 4706"/>
            </a:avLst>
          </a:prstGeom>
          <a:solidFill>
            <a:schemeClr val="bg1"/>
          </a:solidFill>
          <a:ln w="12700">
            <a:solidFill>
              <a:schemeClr val="bg1"/>
            </a:solidFill>
            <a:prstDash val="solid"/>
          </a:ln>
          <a:effectLst>
            <a:outerShdw sx="100000" sy="100000" kx="0" ky="0" algn="bl" rotWithShape="0" blurRad="101600" dist="25400" dir="5400000">
              <a:srgbClr val="0B1220">
                <a:alpha val="14000"/>
              </a:srgbClr>
            </a:outerShdw>
          </a:effectLst>
        </p:spPr>
      </p:sp>
      <p:sp>
        <p:nvSpPr>
          <p:cNvPr id="4" name="Text 2"/>
          <p:cNvSpPr txBox="1"/>
          <p:nvPr/>
        </p:nvSpPr>
        <p:spPr>
          <a:xfrm>
            <a:off x="640080" y="1325880"/>
            <a:ext cx="2240280" cy="365760"/>
          </a:xfrm>
          <a:prstGeom prst="rect">
            <a:avLst/>
          </a:prstGeom>
          <a:noFill/>
          <a:ln/>
        </p:spPr>
        <p:txBody>
          <a:bodyPr wrap="square" lIns="0" tIns="0" rIns="0" bIns="0" rtlCol="0" anchor="ctr"/>
          <a:lstStyle/>
          <a:p>
            <a:pPr indent="0" marL="0">
              <a:buNone/>
            </a:pPr>
            <a:r>
              <a:rPr lang="en-US" sz="1500" b="1" dirty="0">
                <a:solidFill>
                  <a:schemeClr val="tx1"/>
                </a:solidFill>
              </a:rPr>
              <a:t>GPM IMERG</a:t>
            </a:r>
            <a:endParaRPr lang="en-US" sz="1500" dirty="0"/>
          </a:p>
        </p:txBody>
      </p:sp>
      <p:sp>
        <p:nvSpPr>
          <p:cNvPr id="5" name="Text 3"/>
          <p:cNvSpPr txBox="1"/>
          <p:nvPr/>
        </p:nvSpPr>
        <p:spPr>
          <a:xfrm>
            <a:off x="640080" y="1737360"/>
            <a:ext cx="2240280" cy="868680"/>
          </a:xfrm>
          <a:prstGeom prst="rect">
            <a:avLst/>
          </a:prstGeom>
          <a:noFill/>
          <a:ln/>
        </p:spPr>
        <p:txBody>
          <a:bodyPr wrap="square" lIns="0" tIns="0" rIns="0" bIns="0" rtlCol="0" anchor="t"/>
          <a:lstStyle/>
          <a:p>
            <a:pPr indent="0" marL="0">
              <a:buNone/>
            </a:pPr>
            <a:r>
              <a:rPr lang="en-US" sz="1150" dirty="0">
                <a:solidFill>
                  <a:schemeClr val="tx2"/>
                </a:solidFill>
              </a:rPr>
              <a:t>Half-hourly satellite rain at 0.1 degrees for the ConvLSTM, replacing the reanalysis grid</a:t>
            </a:r>
            <a:endParaRPr lang="en-US" sz="1150" dirty="0"/>
          </a:p>
        </p:txBody>
      </p:sp>
      <p:sp>
        <p:nvSpPr>
          <p:cNvPr id="6" name="rm Flood calibration"/>
          <p:cNvSpPr/>
          <p:nvPr/>
        </p:nvSpPr>
        <p:spPr>
          <a:xfrm>
            <a:off x="3246120" y="1143000"/>
            <a:ext cx="2606040" cy="1554480"/>
          </a:xfrm>
          <a:prstGeom prst="roundRect">
            <a:avLst>
              <a:gd name="adj" fmla="val 4706"/>
            </a:avLst>
          </a:prstGeom>
          <a:solidFill>
            <a:schemeClr val="bg1"/>
          </a:solidFill>
          <a:ln w="12700">
            <a:solidFill>
              <a:schemeClr val="bg1"/>
            </a:solidFill>
            <a:prstDash val="solid"/>
          </a:ln>
          <a:effectLst>
            <a:outerShdw sx="100000" sy="100000" kx="0" ky="0" algn="bl" rotWithShape="0" blurRad="101600" dist="25400" dir="5400000">
              <a:srgbClr val="0B1220">
                <a:alpha val="14000"/>
              </a:srgbClr>
            </a:outerShdw>
          </a:effectLst>
        </p:spPr>
      </p:sp>
      <p:sp>
        <p:nvSpPr>
          <p:cNvPr id="7" name="Text 5"/>
          <p:cNvSpPr txBox="1"/>
          <p:nvPr/>
        </p:nvSpPr>
        <p:spPr>
          <a:xfrm>
            <a:off x="3429000" y="1325880"/>
            <a:ext cx="2240280" cy="365760"/>
          </a:xfrm>
          <a:prstGeom prst="rect">
            <a:avLst/>
          </a:prstGeom>
          <a:noFill/>
          <a:ln/>
        </p:spPr>
        <p:txBody>
          <a:bodyPr wrap="square" lIns="0" tIns="0" rIns="0" bIns="0" rtlCol="0" anchor="ctr"/>
          <a:lstStyle/>
          <a:p>
            <a:pPr indent="0" marL="0">
              <a:buNone/>
            </a:pPr>
            <a:r>
              <a:rPr lang="en-US" sz="1500" b="1" dirty="0">
                <a:solidFill>
                  <a:schemeClr val="tx1"/>
                </a:solidFill>
              </a:rPr>
              <a:t>Flood calibration</a:t>
            </a:r>
            <a:endParaRPr lang="en-US" sz="1500" dirty="0"/>
          </a:p>
        </p:txBody>
      </p:sp>
      <p:sp>
        <p:nvSpPr>
          <p:cNvPr id="8" name="Text 6"/>
          <p:cNvSpPr txBox="1"/>
          <p:nvPr/>
        </p:nvSpPr>
        <p:spPr>
          <a:xfrm>
            <a:off x="3429000" y="1737360"/>
            <a:ext cx="2240280" cy="868680"/>
          </a:xfrm>
          <a:prstGeom prst="rect">
            <a:avLst/>
          </a:prstGeom>
          <a:noFill/>
          <a:ln/>
        </p:spPr>
        <p:txBody>
          <a:bodyPr wrap="square" lIns="0" tIns="0" rIns="0" bIns="0" rtlCol="0" anchor="t"/>
          <a:lstStyle/>
          <a:p>
            <a:pPr indent="0" marL="0">
              <a:buNone/>
            </a:pPr>
            <a:r>
              <a:rPr lang="en-US" sz="1150" dirty="0">
                <a:solidFill>
                  <a:schemeClr val="tx2"/>
                </a:solidFill>
              </a:rPr>
              <a:t>Tune impact weights against India Flood Inventory event dates by district</a:t>
            </a:r>
            <a:endParaRPr lang="en-US" sz="1150" dirty="0"/>
          </a:p>
        </p:txBody>
      </p:sp>
      <p:sp>
        <p:nvSpPr>
          <p:cNvPr id="9" name="rm Community labels"/>
          <p:cNvSpPr/>
          <p:nvPr/>
        </p:nvSpPr>
        <p:spPr>
          <a:xfrm>
            <a:off x="6035040" y="1143000"/>
            <a:ext cx="2606040" cy="1554480"/>
          </a:xfrm>
          <a:prstGeom prst="roundRect">
            <a:avLst>
              <a:gd name="adj" fmla="val 4706"/>
            </a:avLst>
          </a:prstGeom>
          <a:solidFill>
            <a:schemeClr val="bg1"/>
          </a:solidFill>
          <a:ln w="12700">
            <a:solidFill>
              <a:schemeClr val="bg1"/>
            </a:solidFill>
            <a:prstDash val="solid"/>
          </a:ln>
          <a:effectLst>
            <a:outerShdw sx="100000" sy="100000" kx="0" ky="0" algn="bl" rotWithShape="0" blurRad="101600" dist="25400" dir="5400000">
              <a:srgbClr val="0B1220">
                <a:alpha val="14000"/>
              </a:srgbClr>
            </a:outerShdw>
          </a:effectLst>
        </p:spPr>
      </p:sp>
      <p:sp>
        <p:nvSpPr>
          <p:cNvPr id="10" name="Text 8"/>
          <p:cNvSpPr txBox="1"/>
          <p:nvPr/>
        </p:nvSpPr>
        <p:spPr>
          <a:xfrm>
            <a:off x="6217920" y="1325880"/>
            <a:ext cx="2240280" cy="365760"/>
          </a:xfrm>
          <a:prstGeom prst="rect">
            <a:avLst/>
          </a:prstGeom>
          <a:noFill/>
          <a:ln/>
        </p:spPr>
        <p:txBody>
          <a:bodyPr wrap="square" lIns="0" tIns="0" rIns="0" bIns="0" rtlCol="0" anchor="ctr"/>
          <a:lstStyle/>
          <a:p>
            <a:pPr indent="0" marL="0">
              <a:buNone/>
            </a:pPr>
            <a:r>
              <a:rPr lang="en-US" sz="1500" b="1" dirty="0">
                <a:solidFill>
                  <a:schemeClr val="tx1"/>
                </a:solidFill>
              </a:rPr>
              <a:t>Community labels</a:t>
            </a:r>
            <a:endParaRPr lang="en-US" sz="1500" dirty="0"/>
          </a:p>
        </p:txBody>
      </p:sp>
      <p:sp>
        <p:nvSpPr>
          <p:cNvPr id="11" name="Text 9"/>
          <p:cNvSpPr txBox="1"/>
          <p:nvPr/>
        </p:nvSpPr>
        <p:spPr>
          <a:xfrm>
            <a:off x="6217920" y="1737360"/>
            <a:ext cx="2240280" cy="868680"/>
          </a:xfrm>
          <a:prstGeom prst="rect">
            <a:avLst/>
          </a:prstGeom>
          <a:noFill/>
          <a:ln/>
        </p:spPr>
        <p:txBody>
          <a:bodyPr wrap="square" lIns="0" tIns="0" rIns="0" bIns="0" rtlCol="0" anchor="t"/>
          <a:lstStyle/>
          <a:p>
            <a:pPr indent="0" marL="0">
              <a:buNone/>
            </a:pPr>
            <a:r>
              <a:rPr lang="en-US" sz="1150" dirty="0">
                <a:solidFill>
                  <a:schemeClr val="tx2"/>
                </a:solidFill>
              </a:rPr>
              <a:t>Route road reports into the road model so it learns from observed closures</a:t>
            </a:r>
            <a:endParaRPr lang="en-US" sz="1150" dirty="0"/>
          </a:p>
        </p:txBody>
      </p:sp>
      <p:sp>
        <p:nvSpPr>
          <p:cNvPr id="12" name="rm Time-stepped routing"/>
          <p:cNvSpPr/>
          <p:nvPr/>
        </p:nvSpPr>
        <p:spPr>
          <a:xfrm>
            <a:off x="457200" y="2880360"/>
            <a:ext cx="2606040" cy="1554480"/>
          </a:xfrm>
          <a:prstGeom prst="roundRect">
            <a:avLst>
              <a:gd name="adj" fmla="val 4706"/>
            </a:avLst>
          </a:prstGeom>
          <a:solidFill>
            <a:schemeClr val="bg1"/>
          </a:solidFill>
          <a:ln w="12700">
            <a:solidFill>
              <a:schemeClr val="bg1"/>
            </a:solidFill>
            <a:prstDash val="solid"/>
          </a:ln>
          <a:effectLst>
            <a:outerShdw sx="100000" sy="100000" kx="0" ky="0" algn="bl" rotWithShape="0" blurRad="101600" dist="25400" dir="5400000">
              <a:srgbClr val="0B1220">
                <a:alpha val="14000"/>
              </a:srgbClr>
            </a:outerShdw>
          </a:effectLst>
        </p:spPr>
      </p:sp>
      <p:sp>
        <p:nvSpPr>
          <p:cNvPr id="13" name="Text 11"/>
          <p:cNvSpPr txBox="1"/>
          <p:nvPr/>
        </p:nvSpPr>
        <p:spPr>
          <a:xfrm>
            <a:off x="640080" y="3063240"/>
            <a:ext cx="2240280" cy="365760"/>
          </a:xfrm>
          <a:prstGeom prst="rect">
            <a:avLst/>
          </a:prstGeom>
          <a:noFill/>
          <a:ln/>
        </p:spPr>
        <p:txBody>
          <a:bodyPr wrap="square" lIns="0" tIns="0" rIns="0" bIns="0" rtlCol="0" anchor="ctr"/>
          <a:lstStyle/>
          <a:p>
            <a:pPr indent="0" marL="0">
              <a:buNone/>
            </a:pPr>
            <a:r>
              <a:rPr lang="en-US" sz="1500" b="1" dirty="0">
                <a:solidFill>
                  <a:schemeClr val="tx1"/>
                </a:solidFill>
              </a:rPr>
              <a:t>Time-stepped routing</a:t>
            </a:r>
            <a:endParaRPr lang="en-US" sz="1500" dirty="0"/>
          </a:p>
        </p:txBody>
      </p:sp>
      <p:sp>
        <p:nvSpPr>
          <p:cNvPr id="14" name="Text 12"/>
          <p:cNvSpPr txBox="1"/>
          <p:nvPr/>
        </p:nvSpPr>
        <p:spPr>
          <a:xfrm>
            <a:off x="640080" y="3474720"/>
            <a:ext cx="2240280" cy="868680"/>
          </a:xfrm>
          <a:prstGeom prst="rect">
            <a:avLst/>
          </a:prstGeom>
          <a:noFill/>
          <a:ln/>
        </p:spPr>
        <p:txBody>
          <a:bodyPr wrap="square" lIns="0" tIns="0" rIns="0" bIns="0" rtlCol="0" anchor="t"/>
          <a:lstStyle/>
          <a:p>
            <a:pPr indent="0" marL="0">
              <a:buNone/>
            </a:pPr>
            <a:r>
              <a:rPr lang="en-US" sz="1150" dirty="0">
                <a:solidFill>
                  <a:schemeClr val="tx2"/>
                </a:solidFill>
              </a:rPr>
              <a:t>Routes that change as ponding grows through the event</a:t>
            </a:r>
            <a:endParaRPr lang="en-US" sz="1150" dirty="0"/>
          </a:p>
        </p:txBody>
      </p:sp>
      <p:sp>
        <p:nvSpPr>
          <p:cNvPr id="15" name="rm Gauge ingestion"/>
          <p:cNvSpPr/>
          <p:nvPr/>
        </p:nvSpPr>
        <p:spPr>
          <a:xfrm>
            <a:off x="3246120" y="2880360"/>
            <a:ext cx="2606040" cy="1554480"/>
          </a:xfrm>
          <a:prstGeom prst="roundRect">
            <a:avLst>
              <a:gd name="adj" fmla="val 4706"/>
            </a:avLst>
          </a:prstGeom>
          <a:solidFill>
            <a:schemeClr val="bg1"/>
          </a:solidFill>
          <a:ln w="12700">
            <a:solidFill>
              <a:schemeClr val="bg1"/>
            </a:solidFill>
            <a:prstDash val="solid"/>
          </a:ln>
          <a:effectLst>
            <a:outerShdw sx="100000" sy="100000" kx="0" ky="0" algn="bl" rotWithShape="0" blurRad="101600" dist="25400" dir="5400000">
              <a:srgbClr val="0B1220">
                <a:alpha val="14000"/>
              </a:srgbClr>
            </a:outerShdw>
          </a:effectLst>
        </p:spPr>
      </p:sp>
      <p:sp>
        <p:nvSpPr>
          <p:cNvPr id="16" name="Text 14"/>
          <p:cNvSpPr txBox="1"/>
          <p:nvPr/>
        </p:nvSpPr>
        <p:spPr>
          <a:xfrm>
            <a:off x="3429000" y="3063240"/>
            <a:ext cx="2240280" cy="365760"/>
          </a:xfrm>
          <a:prstGeom prst="rect">
            <a:avLst/>
          </a:prstGeom>
          <a:noFill/>
          <a:ln/>
        </p:spPr>
        <p:txBody>
          <a:bodyPr wrap="square" lIns="0" tIns="0" rIns="0" bIns="0" rtlCol="0" anchor="ctr"/>
          <a:lstStyle/>
          <a:p>
            <a:pPr indent="0" marL="0">
              <a:buNone/>
            </a:pPr>
            <a:r>
              <a:rPr lang="en-US" sz="1500" b="1" dirty="0">
                <a:solidFill>
                  <a:schemeClr val="tx1"/>
                </a:solidFill>
              </a:rPr>
              <a:t>Gauge ingestion</a:t>
            </a:r>
            <a:endParaRPr lang="en-US" sz="1500" dirty="0"/>
          </a:p>
        </p:txBody>
      </p:sp>
      <p:sp>
        <p:nvSpPr>
          <p:cNvPr id="17" name="Text 15"/>
          <p:cNvSpPr txBox="1"/>
          <p:nvPr/>
        </p:nvSpPr>
        <p:spPr>
          <a:xfrm>
            <a:off x="3429000" y="3474720"/>
            <a:ext cx="2240280" cy="868680"/>
          </a:xfrm>
          <a:prstGeom prst="rect">
            <a:avLst/>
          </a:prstGeom>
          <a:noFill/>
          <a:ln/>
        </p:spPr>
        <p:txBody>
          <a:bodyPr wrap="square" lIns="0" tIns="0" rIns="0" bIns="0" rtlCol="0" anchor="t"/>
          <a:lstStyle/>
          <a:p>
            <a:pPr indent="0" marL="0">
              <a:buNone/>
            </a:pPr>
            <a:r>
              <a:rPr lang="en-US" sz="1150" dirty="0">
                <a:solidFill>
                  <a:schemeClr val="tx2"/>
                </a:solidFill>
              </a:rPr>
              <a:t>TN SMART and IMD station rain when access is granted, to correct ERA5 bias per district</a:t>
            </a:r>
            <a:endParaRPr lang="en-US" sz="1150" dirty="0"/>
          </a:p>
        </p:txBody>
      </p:sp>
      <p:sp>
        <p:nvSpPr>
          <p:cNvPr id="18" name="rm Mobile app"/>
          <p:cNvSpPr/>
          <p:nvPr/>
        </p:nvSpPr>
        <p:spPr>
          <a:xfrm>
            <a:off x="6035040" y="2880360"/>
            <a:ext cx="2606040" cy="1554480"/>
          </a:xfrm>
          <a:prstGeom prst="roundRect">
            <a:avLst>
              <a:gd name="adj" fmla="val 4706"/>
            </a:avLst>
          </a:prstGeom>
          <a:solidFill>
            <a:schemeClr val="bg1"/>
          </a:solidFill>
          <a:ln w="12700">
            <a:solidFill>
              <a:schemeClr val="bg1"/>
            </a:solidFill>
            <a:prstDash val="solid"/>
          </a:ln>
          <a:effectLst>
            <a:outerShdw sx="100000" sy="100000" kx="0" ky="0" algn="bl" rotWithShape="0" blurRad="101600" dist="25400" dir="5400000">
              <a:srgbClr val="0B1220">
                <a:alpha val="14000"/>
              </a:srgbClr>
            </a:outerShdw>
          </a:effectLst>
        </p:spPr>
      </p:sp>
      <p:sp>
        <p:nvSpPr>
          <p:cNvPr id="19" name="Text 17"/>
          <p:cNvSpPr txBox="1"/>
          <p:nvPr/>
        </p:nvSpPr>
        <p:spPr>
          <a:xfrm>
            <a:off x="6217920" y="3063240"/>
            <a:ext cx="2240280" cy="365760"/>
          </a:xfrm>
          <a:prstGeom prst="rect">
            <a:avLst/>
          </a:prstGeom>
          <a:noFill/>
          <a:ln/>
        </p:spPr>
        <p:txBody>
          <a:bodyPr wrap="square" lIns="0" tIns="0" rIns="0" bIns="0" rtlCol="0" anchor="ctr"/>
          <a:lstStyle/>
          <a:p>
            <a:pPr indent="0" marL="0">
              <a:buNone/>
            </a:pPr>
            <a:r>
              <a:rPr lang="en-US" sz="1500" b="1" dirty="0">
                <a:solidFill>
                  <a:schemeClr val="tx1"/>
                </a:solidFill>
              </a:rPr>
              <a:t>Mobile app</a:t>
            </a:r>
            <a:endParaRPr lang="en-US" sz="1500" dirty="0"/>
          </a:p>
        </p:txBody>
      </p:sp>
      <p:sp>
        <p:nvSpPr>
          <p:cNvPr id="20" name="Text 18"/>
          <p:cNvSpPr txBox="1"/>
          <p:nvPr/>
        </p:nvSpPr>
        <p:spPr>
          <a:xfrm>
            <a:off x="6217920" y="3474720"/>
            <a:ext cx="2240280" cy="868680"/>
          </a:xfrm>
          <a:prstGeom prst="rect">
            <a:avLst/>
          </a:prstGeom>
          <a:noFill/>
          <a:ln/>
        </p:spPr>
        <p:txBody>
          <a:bodyPr wrap="square" lIns="0" tIns="0" rIns="0" bIns="0" rtlCol="0" anchor="t"/>
          <a:lstStyle/>
          <a:p>
            <a:pPr indent="0" marL="0">
              <a:buNone/>
            </a:pPr>
            <a:r>
              <a:rPr lang="en-US" sz="1150" dirty="0">
                <a:solidFill>
                  <a:schemeClr val="tx2"/>
                </a:solidFill>
              </a:rPr>
              <a:t>Same API, location-first, offline-tolerant alerts</a:t>
            </a:r>
            <a:endParaRPr lang="en-US" sz="1150" dirty="0"/>
          </a:p>
        </p:txBody>
      </p:sp>
      <p:sp>
        <p:nvSpPr>
          <p:cNvPr id="25" name="Slide Number Placeholder 0"/>
          <p:cNvSpPr>
            <a:spLocks noGrp="1"/>
          </p:cNvSpPr>
          <p:nvPr>
            <p:ph type="sldNum" sz="quarter" idx="4294967295"/>
          </p:nvPr>
        </p:nvSpPr>
        <p:spPr>
          <a:xfrm>
            <a:off x="8321040" y="4773168"/>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1600200"/>
            <a:ext cx="8046720" cy="1188720"/>
          </a:xfrm>
          <a:prstGeom prst="rect">
            <a:avLst/>
          </a:prstGeom>
          <a:noFill/>
          <a:ln/>
        </p:spPr>
        <p:txBody>
          <a:bodyPr wrap="square" lIns="0" tIns="0" rIns="0" bIns="0" rtlCol="0" anchor="b"/>
          <a:lstStyle/>
          <a:p>
            <a:pPr algn="l" indent="0" marL="0">
              <a:buNone/>
            </a:pPr>
            <a:r>
              <a:rPr lang="en-US" sz="4400" b="1" dirty="0">
                <a:solidFill>
                  <a:srgbClr val="FFFFFF"/>
                </a:solidFill>
              </a:rPr>
              <a:t>Rain is forecast by district. Damage happens by street.</a:t>
            </a:r>
            <a:endParaRPr lang="en-US" sz="4400" dirty="0"/>
          </a:p>
        </p:txBody>
      </p:sp>
      <p:sp>
        <p:nvSpPr>
          <p:cNvPr id="3" name="Text 0"/>
          <p:cNvSpPr/>
          <p:nvPr>
            <p:ph idx="101" type="body" hasCustomPrompt="1"/>
          </p:nvPr>
        </p:nvSpPr>
        <p:spPr>
          <a:xfrm>
            <a:off x="548640" y="2926080"/>
            <a:ext cx="8046720" cy="914400"/>
          </a:xfrm>
          <a:prstGeom prst="rect">
            <a:avLst/>
          </a:prstGeom>
          <a:noFill/>
          <a:ln/>
        </p:spPr>
        <p:txBody>
          <a:bodyPr wrap="square" lIns="0" tIns="0" rIns="0" bIns="0" rtlCol="0" anchor="t"/>
          <a:lstStyle/>
          <a:p>
            <a:pPr algn="l" indent="0" marL="0">
              <a:buNone/>
            </a:pPr>
            <a:r>
              <a:rPr lang="en-US" sz="2000" dirty="0">
                <a:solidFill>
                  <a:srgbClr val="7DD3FC"/>
                </a:solidFill>
              </a:rPr>
              <a:t>RIIS turns the first into a map of the second, with reasons attached, in time to act.</a:t>
            </a:r>
            <a:endParaRPr lang="en-US" sz="2000" dirty="0"/>
          </a:p>
        </p:txBody>
      </p:sp>
      <p:sp>
        <p:nvSpPr>
          <p:cNvPr id="4" name="Text 2"/>
          <p:cNvSpPr txBox="1"/>
          <p:nvPr/>
        </p:nvSpPr>
        <p:spPr>
          <a:xfrm>
            <a:off x="548640" y="4023360"/>
            <a:ext cx="8046720" cy="365760"/>
          </a:xfrm>
          <a:prstGeom prst="rect">
            <a:avLst/>
          </a:prstGeom>
          <a:noFill/>
          <a:ln/>
        </p:spPr>
        <p:txBody>
          <a:bodyPr wrap="square" lIns="0" tIns="0" rIns="0" bIns="0" rtlCol="0" anchor="t"/>
          <a:lstStyle/>
          <a:p>
            <a:pPr indent="0" marL="0">
              <a:buNone/>
            </a:pPr>
            <a:r>
              <a:rPr lang="en-US" sz="1300" dirty="0">
                <a:solidFill>
                  <a:schemeClr val="accent5"/>
                </a:solidFill>
              </a:rPr>
              <a:t>Live demo  ·  localhost:5173  ·  Dashboard, Flood Simulation, Safe Routes, Farmer, Alerts</a:t>
            </a:r>
            <a:endParaRPr lang="en-US" sz="1300" dirty="0"/>
          </a:p>
        </p:txBody>
      </p:sp>
    </p:spTree>
  </p:cSld>
  <p:clrMapOvr>
    <a:masterClrMapping/>
  </p:clrMapOvr>
</p:sld>
</file>

<file path=ppt/theme/theme1.xml><?xml version="1.0" encoding="utf-8"?>
<a:theme xmlns:a="http://schemas.openxmlformats.org/drawingml/2006/main" name="RIIS Rain">
  <a:themeElements>
    <a:clrScheme name="RIIS Rain">
      <a:dk1>
        <a:srgbClr val="0B1220"/>
      </a:dk1>
      <a:lt1>
        <a:srgbClr val="FFFFFF"/>
      </a:lt1>
      <a:dk2>
        <a:srgbClr val="1E293B"/>
      </a:dk2>
      <a:lt2>
        <a:srgbClr val="EEF2F7"/>
      </a:lt2>
      <a:accent1>
        <a:srgbClr val="0E9FB5"/>
      </a:accent1>
      <a:accent2>
        <a:srgbClr val="F59E0B"/>
      </a:accent2>
      <a:accent3>
        <a:srgbClr val="E0443E"/>
      </a:accent3>
      <a:accent4>
        <a:srgbClr val="22A05B"/>
      </a:accent4>
      <a:accent5>
        <a:srgbClr val="64748B"/>
      </a:accent5>
      <a:accent6>
        <a:srgbClr val="7DD3FC"/>
      </a:accent6>
      <a:hlink>
        <a:srgbClr val="0E9FB5"/>
      </a:hlink>
      <a:folHlink>
        <a:srgbClr val="64748B"/>
      </a:folHlink>
    </a:clrScheme>
    <a:fontScheme name="RIIS Rai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RIIS: Rainfall Impact Intelligence System</dc:title>
  <dc:subject>PptxGenJS Presentation</dc:subject>
  <dc:creator>RIIS</dc:creator>
  <cp:lastModifiedBy>RIIS</cp:lastModifiedBy>
  <cp:revision>1</cp:revision>
  <dcterms:created xsi:type="dcterms:W3CDTF">2026-10-08T06:21:07Z</dcterms:created>
  <dcterms:modified xsi:type="dcterms:W3CDTF">2026-10-08T06:21:08Z</dcterms:modified>
</cp:coreProperties>
</file>