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b74ba82b5340fa" /><Relationship Type="http://schemas.openxmlformats.org/officeDocument/2006/relationships/extended-properties" Target="/docProps/app.xml" Id="Re2642b1f3d75477c" /><Relationship Type="http://schemas.openxmlformats.org/officeDocument/2006/relationships/officeDocument" Target="/ppt/presentation.xml" Id="Ra982b70ef9bb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119de5b8949b1"/>
  </p:sldMasterIdLst>
  <p:notesMasterIdLst>
    <p:notesMasterId xmlns:r="http://schemas.openxmlformats.org/officeDocument/2006/relationships" r:id="Rd45d1432c7ce41e3"/>
  </p:notesMasterIdLst>
  <p:sldIdLst>
    <p:sldId xmlns:r="http://schemas.openxmlformats.org/officeDocument/2006/relationships" id="256" r:id="R5d9dfdeb093a4d43"/>
    <p:sldId xmlns:r="http://schemas.openxmlformats.org/officeDocument/2006/relationships" id="257" r:id="Rcb9b45c565534f60"/>
    <p:sldId xmlns:r="http://schemas.openxmlformats.org/officeDocument/2006/relationships" id="258" r:id="R19785922f27b4705"/>
    <p:sldId xmlns:r="http://schemas.openxmlformats.org/officeDocument/2006/relationships" id="259" r:id="R4203a4b1b2094d02"/>
    <p:sldId xmlns:r="http://schemas.openxmlformats.org/officeDocument/2006/relationships" id="260" r:id="R3a53cc9dc8094c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2294aa896e4267" /><Relationship Type="http://schemas.openxmlformats.org/officeDocument/2006/relationships/slideMaster" Target="/ppt/slideMasters/slideMaster1.xml" Id="R6af119de5b8949b1" /><Relationship Type="http://schemas.openxmlformats.org/officeDocument/2006/relationships/notesMaster" Target="/ppt/notesMasters/notesMaster1.xml" Id="Rd45d1432c7ce41e3" /><Relationship Type="http://schemas.openxmlformats.org/officeDocument/2006/relationships/presProps" Target="/ppt/presProps.xml" Id="R8a88b12711794622" /><Relationship Type="http://schemas.openxmlformats.org/officeDocument/2006/relationships/tableStyles" Target="/ppt/tableStyles.xml" Id="Rd345e28d6b4c41b7" /><Relationship Type="http://schemas.openxmlformats.org/officeDocument/2006/relationships/slide" Target="/ppt/slides/slide1.xml" Id="R5d9dfdeb093a4d43" /><Relationship Type="http://schemas.openxmlformats.org/officeDocument/2006/relationships/slide" Target="/ppt/slides/slide2.xml" Id="Rcb9b45c565534f60" /><Relationship Type="http://schemas.openxmlformats.org/officeDocument/2006/relationships/slide" Target="/ppt/slides/slide3.xml" Id="R19785922f27b4705" /><Relationship Type="http://schemas.openxmlformats.org/officeDocument/2006/relationships/slide" Target="/ppt/slides/slide4.xml" Id="R4203a4b1b2094d02" /><Relationship Type="http://schemas.openxmlformats.org/officeDocument/2006/relationships/slide" Target="/ppt/slides/slide5.xml" Id="R3a53cc9dc8094c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125a6190d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0dc1b686884e7c" /><Relationship Type="http://schemas.openxmlformats.org/officeDocument/2006/relationships/notesMaster" Target="/ppt/notesMasters/notesMaster1.xml" Id="R3c85b1fafbc040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3fc79d480c4dd9" /><Relationship Type="http://schemas.openxmlformats.org/officeDocument/2006/relationships/notesMaster" Target="/ppt/notesMasters/notesMaster1.xml" Id="Rf09be6e3c83641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b935b186c4219" /><Relationship Type="http://schemas.openxmlformats.org/officeDocument/2006/relationships/notesMaster" Target="/ppt/notesMasters/notesMaster1.xml" Id="Rc391b29179eb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4e4772eb144d28" /><Relationship Type="http://schemas.openxmlformats.org/officeDocument/2006/relationships/notesMaster" Target="/ppt/notesMasters/notesMaster1.xml" Id="R2243436752614a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6f05ee62143a3" /><Relationship Type="http://schemas.openxmlformats.org/officeDocument/2006/relationships/notesMaster" Target="/ppt/notesMasters/notesMaster1.xml" Id="Re053ecd59820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a7b6d27b5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493cd2bbf243a0" /><Relationship Type="http://schemas.openxmlformats.org/officeDocument/2006/relationships/slideLayout" Target="/ppt/slideLayouts/slideLayout1.xml" Id="R18c30565c5d448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30565c5d448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82508a1ac4db0" /><Relationship Type="http://schemas.openxmlformats.org/officeDocument/2006/relationships/notesSlide" Target="/ppt/notesSlides/notesSlide1.xml" Id="Rde482320f17d4d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45f04815642f0" /><Relationship Type="http://schemas.openxmlformats.org/officeDocument/2006/relationships/notesSlide" Target="/ppt/notesSlides/notesSlide2.xml" Id="Ra04f107baf0a4d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74ff9e73d4cbd" /><Relationship Type="http://schemas.openxmlformats.org/officeDocument/2006/relationships/notesSlide" Target="/ppt/notesSlides/notesSlide3.xml" Id="R589f26fb6b3a49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61e4736a14802" /><Relationship Type="http://schemas.openxmlformats.org/officeDocument/2006/relationships/notesSlide" Target="/ppt/notesSlides/notesSlide4.xml" Id="Rf1d80ce9e0ee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a5f4b76c44f2d" /><Relationship Type="http://schemas.openxmlformats.org/officeDocument/2006/relationships/notesSlide" Target="/ppt/notesSlides/notesSlide5.xml" Id="Rfb8f81e6099344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A163D-1FB0-494C-88A6-13BDDD6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5C6E6-400E-40EF-8479-CEE6A4B9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A3CE3-A21A-4694-B573-A3AEFBD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PROJECT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73DD6-EC9A-45A1-83E8-DF3BED86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BB19F-A0C7-45B0-A4B0-537E076C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581A5-23FA-4F7D-82E3-EA106CF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523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Impact</a:t>
            </a:r>
          </a:p>
          <a:p xmlns:a="http://schemas.openxmlformats.org/drawingml/2006/main">
            <a:pPr algn="l">
              <a:defRPr sz="31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Intelligence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40BA2-5448-4835-847E-E841F207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 futuristic decision-support platform that turns changing weather conditions into clear, local and explainable action for rainfall-related emergencies.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FC9D0-1CD8-4802-8A82-0C7712D7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3048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D9FF">
              <a:alpha val="12549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64076-C738-4567-825F-1C6088B7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304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WEATHER INTELLIGENCE FOR SAFER COMMUNITIES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1C2BA-C349-455F-9AF0-9F62BE9E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43000"/>
            <a:ext cx="5000625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F814A-5F2A-4A20-93E6-A5E4BBA8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LIVE WEATHER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9ADCA-6D08-4F11-9DBF-1C2FFA0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Predict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C20C6-0783-45E7-84A5-C5F927F4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4B58B-377D-4B52-804E-0E11DA6D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480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B84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6B84A"/>
                </a:solidFill>
                <a:latin typeface="Aptos"/>
                <a:ea typeface="Aptos"/>
                <a:cs typeface="Aptos"/>
              </a:rPr>
              <a:t>Act early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099AA-A27D-4D25-AD83-B703B42C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4969" y="3988594"/>
            <a:ext cx="690563" cy="6905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A3128-BD52-4744-9125-9C04A72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643313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DE19C-9126-4D98-9F3A-C4A34FB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4406" y="3298031"/>
            <a:ext cx="2071688" cy="20716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B557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A67FB-80C0-42A4-AEDB-4BA79191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762250" cy="2762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6D9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DD38B-A68A-49BC-88E0-CF348B9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00">
            <a:off x="8239125" y="2952750"/>
            <a:ext cx="2762250" cy="27622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2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38DED-EDA5-4296-A893-6820CBCA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Weather  •  Maps  •  Explainable AI  •  Response tools</a:t>
            </a:r>
          </a:p>
        </p:txBody>
      </p:sp>
    </p:spTree>
    <p:extLst>
      <p:ext uri="{BB962C8B-B14F-4D97-AF65-F5344CB8AC3E}">
        <p14:creationId xmlns:p14="http://schemas.microsoft.com/office/powerpoint/2010/main" val="2016789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ADF93-AE43-458F-97AF-5E04B2DF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717ED-31EF-4A95-850D-41C8E60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1F75C-B206-4E26-B50F-7132D80B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GEOSPATIAL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45A4F-62C5-4860-8CA8-A4A7042E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4548C-D93F-48E5-80EB-0323F453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Understand where rainfall becomes a real-world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743B6-CFEE-49B5-924E-E73B22F1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connects large-scale weather patterns with city and ward-level conditions so support can reach the right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8D3DC-8D16-4F01-B8B2-D29791B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143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7522D-84D2-4A09-AE68-18867CB7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INDIA RISK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E0D2B-0928-4142-903D-927D4B60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national view helps teams compare weather conditions across districts and identify regions that may need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4710A-2A6A-42D8-AF42-C0CCF953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38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4A805-A76E-4FCD-8013-5B7EB657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480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Northern 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08FDB-445A-4572-B9E9-13557C2D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6F308-DD83-4F7E-8BC4-810F936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Central region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E8BA-B9A0-44D2-8864-D2345E3E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24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79E5E-64CE-441B-B42E-3C714E43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337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Eastern region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F77E7-8C51-4AC3-B8DC-01D50777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8874D-8475-4791-8AE1-36728AB3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10527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Western 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D1A6-4D02-4982-9437-6F7B3F79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AE0B6-76C3-46D1-8ADC-B521697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772025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Coastal region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DCF48-9A38-40B9-8D39-58424828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Risk levels are communicated visually so patterns can be understood at a glance.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01229-A848-4F7E-B556-635BCB03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381625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3B92BC-4493-41A5-8787-B6CEE48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CITY AND WARD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73EAD5-9A58-4901-B1D2-120AD8D4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local view combines forecast rainfall, likely water accumulation and population exposure to show which neighbourhoods are more vulnerable.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80BC9-E334-4DDA-BA65-B2C74A68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E016E-96D4-4FC3-8807-AF24CFAA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099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Velachery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33D94-7745-4A8E-A011-25B7A47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02AB1-DDCF-49C8-A658-178D63A2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219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Saidapet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26C96-0E3D-4569-9520-19E18A8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B84A">
              <a:alpha val="18824"/>
            </a:srgbClr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49C6A-0F34-4774-B067-196431BD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2907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Adyar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566B2E-DCCC-49C7-9D87-72376382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DDB862-8B8E-45A5-BF7F-5CC2451C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529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Chromepet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80EA8F-E85A-42A1-A7F9-23208982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>
              <a:alpha val="18824"/>
            </a:srgbClr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A204D6-B91A-451B-B112-807FCF6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43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Tambaram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942041-6979-4BB0-9AFC-B97D9D4A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8763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6B84A">
              <a:alpha val="18824"/>
            </a:srgbClr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3E301A-EAF4-4757-A433-EB6C582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19450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Perambur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CF8E87-8DC8-4632-BCEE-17F1FB17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76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Device location can refresh the map context and weather information for the user’s current area.</a:t>
            </a:r>
          </a:p>
        </p:txBody>
      </p:sp>
    </p:spTree>
    <p:extLst>
      <p:ext uri="{BB962C8B-B14F-4D97-AF65-F5344CB8AC3E}">
        <p14:creationId xmlns:p14="http://schemas.microsoft.com/office/powerpoint/2010/main" val="339035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A32209-4EFC-45C3-8184-31D10E29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B7140-8957-48A0-BEA6-E2C637A3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2DECA-D324-48F0-B903-273EB512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AI &amp; 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58463-2CC3-4E9E-BC13-43958775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7F53F2-9F11-4238-A3D9-6A42AE10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Make every rainfall forecast understandable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02C60-5A7D-4646-851B-B7F8FFC0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combines forecasting models with explainable AI so users can see not only the prediction, but also the weather signals behind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13F41-3203-4746-9105-C663F79E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9348-2F0B-4401-8D89-D1EDBFE1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HOW THE INTELLIGENCE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2796A-CFCC-4446-AAF0-60564A43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A56D5-6C69-48AF-B3CE-1370374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Live weather and device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70199-1E37-4910-9A4A-0EA5BE33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54B6F-C69C-425C-B24F-AEFA7E0F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E3309-9F9B-472A-82C4-5E01652D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Radar, satellite and station feeds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E1F26-84F8-4DF5-ACE5-923AA213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099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D0E17-CBC1-441E-B8CD-A7579B57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6D9FF">
              <a:alpha val="14118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39016-DC97-42C7-A174-6092ABAC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forecasting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E64F5-46D3-4D3E-933E-9109B4E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433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C891B-EE73-4994-AE14-ABF3D1E2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5FECC-D891-424C-8D09-B1A2185B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Impact assessment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1A6AF-A986-4849-8323-7C738C9E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3FA66-4AA2-4A5D-A334-13457F91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3048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0FD17-1F4B-45A6-9331-EBB378AC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4345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Explanation and confidence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3C4D6-E645-46EE-9BB7-84777582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681037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68453-16F5-42E3-A0E7-9D2D4FA8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WHAT THE EXPLAINABLE AI LOOKS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82CA1-8C16-4494-93EF-4290ACA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266700" cy="8572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C3324-FB9E-4D1B-ABC8-46AFF285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Humidity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667E6-4867-4189-94E1-879B592E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62225"/>
            <a:ext cx="266700" cy="7239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0412F3-0B96-4CF4-BDC6-FB5F8F9D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Wind direction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D72E84-C435-44D0-94D7-0E88FAC9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57475"/>
            <a:ext cx="266700" cy="6286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16D6B-94E2-46F3-8244-EB17BE95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Radar activity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E188B-3603-437A-9220-EAEA82E9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33675"/>
            <a:ext cx="266700" cy="5524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928F40-820A-4B7F-9D87-9C64F492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Cloud cooling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C497D-F596-422A-90B7-E825D4C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47975"/>
            <a:ext cx="266700" cy="4381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80974-5116-4A83-80B0-3A041AF2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Air pressure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B2844E-CA73-4E5C-867D-41C63810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24175"/>
            <a:ext cx="266700" cy="3619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1597F3-FECA-46E3-8E92-90BFB3E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004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Monsoon conditions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3B3EC-7565-4E5A-8AA2-D3CF6572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6810375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420728-8875-4127-AA42-EA5565E7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9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TIME-BASED FORECAST TIMELINE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7BAE2-2AB1-4C8D-873C-FBD9B296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291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The timeline lets users follow how rainfall, risk and confidence change as the weather system develops.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2E956B-8240-44E8-8655-AB8B15C6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101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This makes it easier to plan action before a severe rainfall period begins.</a:t>
            </a:r>
          </a:p>
        </p:txBody>
      </p:sp>
    </p:spTree>
    <p:extLst>
      <p:ext uri="{BB962C8B-B14F-4D97-AF65-F5344CB8AC3E}">
        <p14:creationId xmlns:p14="http://schemas.microsoft.com/office/powerpoint/2010/main" val="1328562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50CFB-325C-49ED-8C40-B57061C3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61336-B1D0-4781-AECA-F092B65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3F1CE-4A2F-4BDD-99CD-4BDC7EC9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IMPACT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53A00-6581-4C99-8078-3A1C45A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D0277-19BD-4845-8EBD-BDA4212B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Translate weather predictions into practical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0E4C1-52F2-46AA-A467-C4254747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evaluates how a rainfall event could affect daily life, infrastructure and public safety, not only how much rain may fall.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3CB0D-2404-4F9B-8BF8-C2705505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50005-6E12-4B3C-9CD2-3A929FAB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Urban flooding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DA83E-C784-41B1-92CF-AF0A02FF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Identifies areas where intense rain may overwhelm drainage.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96ED6-C316-4761-BA1F-8816382E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9B32C-B961-4682-B202-CA524A89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Waterlogging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55712-A0B0-45A1-B3BF-7F58F92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Highlights roads and neighbourhoods likely to accumulate water.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4B09B-8A77-4DF7-A2D6-4C9B759E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526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B093A-F257-4817-9AE6-D6B1AF5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050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B8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B84A"/>
                </a:solidFill>
                <a:latin typeface="Aptos"/>
                <a:ea typeface="Aptos"/>
                <a:cs typeface="Aptos"/>
              </a:rPr>
              <a:t>Traffic disruption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5B67F-FCFB-4BA8-901D-E5E6AD3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Helps people and agencies prepare safer travel 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AAD35-D626-4083-A59B-A31A948B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BF3DB-8E7C-45CF-8543-25512F5B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River and reservoir 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6C1B1-DA8F-41FC-A3BC-D96C729C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Supports monitoring of inflow, overflow and water release decisions.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58B5D-2CEE-4B88-9EF9-5C3AFA6D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0F8D9-B2D4-46A2-9DEC-9F03EA69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E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EE7B7"/>
                </a:solidFill>
                <a:latin typeface="Aptos"/>
                <a:ea typeface="Aptos"/>
                <a:cs typeface="Aptos"/>
              </a:rPr>
              <a:t>Farmer advisory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B8C83-88A1-4175-95F0-EA6F5E5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Converts rainfall conditions into crop-protection guidance.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C38E0-F98D-4278-A100-15386F64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71825"/>
            <a:ext cx="2209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9CDE3-2BE5-4A38-81A0-7C21F56D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Public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C55C6-57BA-4737-9BEE-BC4AE7B1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814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Brings key threats together for emergency readiness.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FC325-ED4A-4646-B711-242A5765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209925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70535-824C-43DA-83DB-D9B96529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8122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ACTION 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0C9C0-0C99-45D6-A82F-4DE91641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C0633-D6A4-4E38-8EC8-5B4F31CC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Flood Simulator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8FC846-22C3-4B8D-8DF0-5E3D47A3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908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Explores likely flooding under different rainfall conditions.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0B978-85A3-4862-BB65-CF27343A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90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E7B7"/>
          </a:solidFill>
          <a:ln xmlns:a="http://schemas.openxmlformats.org/drawingml/2006/main" w="9525">
            <a:solidFill>
              <a:srgbClr val="6EE7B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347AD-4CA4-430A-9518-960488A8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Farmer Advisory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6B326C-50B7-49BF-96D0-3B5A242D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09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Offers practical guidance for crops and field activity.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13EB6F-43FE-4065-B0B9-8B64864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10000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84A"/>
          </a:solidFill>
          <a:ln xmlns:a="http://schemas.openxmlformats.org/drawingml/2006/main" w="9525">
            <a:solidFill>
              <a:srgbClr val="F6B8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42AB6B-23D7-4943-A919-E17A4E78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Reservoir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4137F-909A-4A03-90DE-C487AE1F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29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Supports safe storage, inflow and release decisions.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27AA67-9D03-4FE6-8CD2-6C499B2E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82992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D118C-F4DF-42FE-A7AC-65CD8B00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Decision path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F5D645-B47F-4CCF-9839-5B2D4A54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9112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Rainfall forecast  →  Expected impact  →  Recommended response  →  Alert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8631E6-610E-494B-A8DC-38CF355E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8858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The platform converts complex environmental data into a clear next step for each user group.</a:t>
            </a:r>
          </a:p>
        </p:txBody>
      </p:sp>
    </p:spTree>
    <p:extLst>
      <p:ext uri="{BB962C8B-B14F-4D97-AF65-F5344CB8AC3E}">
        <p14:creationId xmlns:p14="http://schemas.microsoft.com/office/powerpoint/2010/main" val="1914696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0C6519-FC39-47CF-85F8-3634830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13C46-C6E7-494B-A88E-8A51EFAF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RIIS  /  RAINFALL IMPACT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9DDC3-55EF-4F8B-A98E-CA55FDE1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RESPONSE ECOSYSTEM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E4D6-8C1F-4271-9083-05B05EC8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19850"/>
            <a:ext cx="542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AI FORECASTING  •  IMPACT INTELLIGENCE  •  EMERGENCY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B40D0-201C-4262-BC95-A6D1217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Bring prediction, response and learning into one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22B66-7A20-4146-8E9B-2420970F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ED0"/>
                </a:solidFill>
                <a:latin typeface="Aptos"/>
                <a:ea typeface="Aptos"/>
                <a:cs typeface="Aptos"/>
              </a:rPr>
              <a:t>RIIS supports emergency teams, residents and administrators through a connected workflow before, during and after severe weather.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1B5DE-E85B-4F55-A632-24B80573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B5AFF-FA6E-482F-B0E9-3B6D9BBA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B6B"/>
                </a:solidFill>
                <a:latin typeface="Aptos"/>
                <a:ea typeface="Aptos"/>
                <a:cs typeface="Aptos"/>
              </a:rPr>
              <a:t>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1B3B8-FE70-4176-A7C5-C1FFB365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Warnings communicate the affected area, likely impact and recommended precaution for rainfall, floods, roads, reservoirs and crops.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DCD5B-FB53-4C26-BAA5-CEB54BE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Act before the impact grows.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EC56E-59E9-4A3C-A44E-D8EFE474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331AD-B2A9-40F8-9231-C324185A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D9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D9FF"/>
                </a:solidFill>
                <a:latin typeface="Aptos"/>
                <a:ea typeface="Aptos"/>
                <a:cs typeface="Aptos"/>
              </a:rPr>
              <a:t>DISASTER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23B66-B109-411E-9056-408119ED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Hospitals, shelters and emergency resources are displayed together to help response teams coordinate people and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8FB59-D4CF-48AD-8C17-AC0B40B3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Match resources to local need.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74866-9CEE-43C7-B749-0302B40B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333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A3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850FB-088A-48D3-B411-F61358F3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COMMUNITY AND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EA7EF-E7DC-48AF-B5FE-582E89ED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2809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AFF"/>
                </a:solidFill>
                <a:latin typeface="Aptos"/>
                <a:ea typeface="Aptos"/>
                <a:cs typeface="Aptos"/>
              </a:rPr>
              <a:t>Citizen reports show ground conditions such as waterlogging and road damage. Admin tools monitor model quality and platform activity.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17EDE-398C-42D7-BCBF-EA20D7DC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4337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BED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BED0"/>
                </a:solidFill>
                <a:latin typeface="Aptos"/>
                <a:ea typeface="Aptos"/>
                <a:cs typeface="Aptos"/>
              </a:rPr>
              <a:t>Learn continuously from real events.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C152F-B424-46B5-8E6D-5DFEF8D5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8299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6D9FF">
              <a:alpha val="7843"/>
            </a:srgbClr>
          </a:solidFill>
          <a:ln xmlns:a="http://schemas.openxmlformats.org/drawingml/2006/main" w="9525">
            <a:solidFill>
              <a:srgbClr val="26D9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97EAE-F310-4975-8E49-AC2FFC03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A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3FAFF"/>
                </a:solidFill>
                <a:latin typeface="Aptos"/>
                <a:ea typeface="Aptos"/>
                <a:cs typeface="Aptos"/>
              </a:rPr>
              <a:t>RIIS transforms weather information into timely, explainable action for safer communities.</a:t>
            </a:r>
          </a:p>
        </p:txBody>
      </p:sp>
    </p:spTree>
    <p:extLst>
      <p:ext uri="{BB962C8B-B14F-4D97-AF65-F5344CB8AC3E}">
        <p14:creationId xmlns:p14="http://schemas.microsoft.com/office/powerpoint/2010/main" val="1610226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2026-07-20T18:56:47.6350000Z</dcterms:created>
  <dcterms:modified xsi:type="dcterms:W3CDTF">2026-07-20T18:56:47.6350000Z</dcterms:modified>
</coreProperties>
</file>